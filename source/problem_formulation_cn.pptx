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p>
                <a14:m>
                  <m:oMath xmlns:m="http://schemas.openxmlformats.org/officeDocument/2006/math">
                    <m:r>
                      <a:rPr lang="en-US" i="1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𝜃</m:t>
                    </m:r>
                  </m:oMath>
                </a14:m>
                <a:r>
                  <a:rPr lang="en-US"/>
                  <a:t>: threshold</a:t>
                </a:r>
                <a:endParaRPr lang="en-US"/>
              </a:p>
            </p:txBody>
          </p:sp>
        </mc:Choice>
        <mc:Fallback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p>
                <a:r>
                  <a:rPr lang="zh-CN" altLang="en-US"/>
                  <a:t>由于</a:t>
                </a:r>
                <a:r>
                  <a:rPr lang="en-US" altLang="en-US"/>
                  <a:t> Scube </a:t>
                </a:r>
                <a:r>
                  <a:rPr lang="zh-CN" altLang="en-US"/>
                  <a:t>查询节点权重时，需要遍历该节点分配的所有地址，因此查询延迟</a:t>
                </a:r>
                <a:r>
                  <a:rPr lang="en-US" alt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 </m:t>
                    </m:r>
                  </m:oMath>
                </a14:m>
                <a:r>
                  <a:rPr lang="zh-CN" altLang="en-US"/>
                  <a:t>与地址数</a:t>
                </a:r>
                <a14:m>
                  <m:oMath xmlns:m="http://schemas.openxmlformats.org/officeDocument/2006/math">
                    <m:r>
                      <a:rPr lang="en-US" altLang="zh-CN"/>
                      <m:t> </m:t>
                    </m:r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呈严格的线性正相关</a:t>
                </a:r>
                <a:endParaRPr lang="zh-CN" altLang="en-US"/>
              </a:p>
            </p:txBody>
          </p:sp>
        </mc:Choice>
        <mc:Fallback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9135" y="1522730"/>
            <a:ext cx="7772400" cy="1470025"/>
          </a:xfrm>
        </p:spPr>
        <p:txBody>
          <a:bodyPr/>
          <a:lstStyle/>
          <a:p>
            <a:r>
              <a:t>问题建模：效用与隐私的张力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4935" y="3278505"/>
            <a:ext cx="6400800" cy="1752600"/>
          </a:xfrm>
        </p:spPr>
        <p:txBody>
          <a:bodyPr/>
          <a:lstStyle/>
          <a:p>
            <a:r>
              <a:t>偏斜感知图流摘要中的隐私泄露形式化分析</a:t>
            </a:r>
          </a:p>
          <a:p/>
          <a:p>
            <a:r>
              <a:t>P-Scube 的理论基础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背景定义：图流与偏斜感知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2440" y="1600200"/>
                <a:ext cx="11005185" cy="4526280"/>
              </a:xfrm>
            </p:spPr>
            <p:txBody>
              <a:bodyPr>
                <a:normAutofit fontScale="80000"/>
              </a:bodyPr>
              <a:lstStyle/>
              <a:p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>
                  <a:defRPr b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图流与幂律分布 (Power-Law Distribution)：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真实世界的图流呈现极度的结构偏斜。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节点 v 的度数服从幂律分布：</a:t>
                </a:r>
                <a14:m>
                  <m:oMath xmlns:m="http://schemas.openxmlformats.org/officeDocument/2006/math"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𝑃𝑟</m:t>
                    </m:r>
                    <m:r>
                      <a:rPr lang="en-US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=[</m:t>
                    </m:r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  <m:r>
                      <a:rPr lang="en-US" i="1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𝑘</m:t>
                    </m:r>
                    <m:r>
                      <a:rPr lang="en-US" i="1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]</m:t>
                    </m:r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∝</a:t>
                </a:r>
                <a14:m>
                  <m:oMath xmlns:m="http://schemas.openxmlformats.org/officeDocument/2006/math">
                    <m:r>
                      <a:rPr lang="en-US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 </m:t>
                    </m:r>
                    <m:sSup>
                      <m:s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𝑘</m:t>
                        </m:r>
                      </m:e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γ</m:t>
                        </m:r>
                      </m:sup>
                    </m:sSup>
                  </m:oMath>
                </a14:m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>
                  <a:spcBef>
                    <a:spcPts val="1400"/>
                  </a:spcBef>
                  <a:defRPr b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偏斜感知资源分配 ：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为了最小化哈希冲突，Scube 根据估计度数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为节点分配资源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(哈希地址数)。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分配函数是一个确定性的阶跃函数 (Deterministic Step Function)：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>
                  <a:defRPr i="1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= 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) = max(2,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DejaVu Math TeX Gyre" panose="02000503000000000000" charset="0"/>
                            <a:ea typeface="SimSun" charset="0"/>
                            <a:cs typeface="DejaVu Math TeX Gyre" panose="02000503000000000000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)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>
                  <a:defRPr b="1">
                    <a:solidFill>
                      <a:srgbClr val="C80000"/>
                    </a:solidFill>
                  </a:defRPr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核心洞察：函数 f(·) 是严格单调递增且完全确定性的。这虽然带来了极高的查询效用，但也埋下了严重的隐私隐患。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2440" y="1600200"/>
                <a:ext cx="11005185" cy="452628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0677525" cy="1143000"/>
          </a:xfrm>
        </p:spPr>
        <p:txBody>
          <a:bodyPr/>
          <a:lstStyle/>
          <a:p>
            <a:pPr algn="l"/>
            <a:r>
              <a:t>2. 攻击者模型 (The Adversary Model)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1345545" cy="4526280"/>
              </a:xfrm>
            </p:spPr>
            <p:txBody>
              <a:bodyPr>
                <a:normAutofit lnSpcReduction="10000"/>
              </a:bodyPr>
              <a:lstStyle/>
              <a:p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>
                  <a:defRPr b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攻击者的观测能力 (Observation)：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节点查询的延迟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与系统为其分配的地址数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呈严格的线性正相关。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>
                  <a:defRPr i="1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≈ </a:t>
                </a:r>
                <a14:m>
                  <m:oMath xmlns:m="http://schemas.openxmlformats.org/officeDocument/2006/math">
                    <m:r>
                      <a:rPr 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𝑐</m:t>
                    </m:r>
                    <m:r>
                      <a:rPr lang="en-US" i="1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  <m:r>
                      <a:rPr lang="en-US" i="1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+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𝑛𝑜𝑖𝑠𝑒</m:t>
                    </m:r>
                    <m:r>
                      <a:rPr lang="en-US" i="1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_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𝑛𝑒𝑡𝑤𝑜𝑟𝑘</m:t>
                    </m:r>
                  </m:oMath>
                </a14:m>
                <a:endParaRPr lang="en-US" i="1"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marL="457200" lvl="1" indent="0">
                  <a:buNone/>
                  <a:defRPr i="1"/>
                </a:pPr>
                <a:r>
                  <a:rPr>
                    <a:solidFill>
                      <a:srgbClr val="FF0000"/>
                    </a:solidFill>
                    <a:latin typeface="Times New Roman" panose="02020503050405090304" charset="0"/>
                    <a:cs typeface="Times New Roman" panose="02020503050405090304" charset="0"/>
                  </a:rPr>
                  <a:t>结论：攻击者仅需通过查询接口 (Query-only API) 测量时间侧信道，即可高精度推断出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solidFill>
                      <a:srgbClr val="FF0000"/>
                    </a:solidFill>
                    <a:latin typeface="Times New Roman" panose="02020503050405090304" charset="0"/>
                    <a:cs typeface="Times New Roman" panose="02020503050405090304" charset="0"/>
                  </a:rPr>
                  <a:t>。</a:t>
                </a:r>
                <a:endParaRPr>
                  <a:solidFill>
                    <a:srgbClr val="FF0000"/>
                  </a:solidFill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>
                  <a:spcBef>
                    <a:spcPts val="1400"/>
                  </a:spcBef>
                  <a:defRPr b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攻击者的目标 (Goal - Hub Extraction)：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判断目标节点 v 是否为“高度节点 (Hub)” (即真实度数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&gt; τ)。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1345545" cy="452628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3. 隐私泄露的形式化量化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955"/>
                <a:ext cx="11011535" cy="4526280"/>
              </a:xfrm>
            </p:spPr>
            <p:txBody>
              <a:bodyPr>
                <a:normAutofit fontScale="80000"/>
              </a:bodyPr>
              <a:lstStyle/>
              <a:p>
                <a:pPr marL="0" indent="0">
                  <a:buNone/>
                </a:pP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>
                  <a:defRPr b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先验概率 (Prior Probability)：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在未观测到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时，由于幂律分布，随机盲猜一个节点是 Hub 的概率极低。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>
                  <a:defRPr i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Pr[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&gt; τ] ≈ 0.01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>
                  <a:spcBef>
                    <a:spcPts val="1400"/>
                  </a:spcBef>
                  <a:defRPr b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后验概率 (Posterior Probability)：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攻击者观测到系统分配的地址数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后，猜中 Hub 的概率变为 Pr[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&gt; τ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]。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>
                  <a:spcBef>
                    <a:spcPts val="1400"/>
                  </a:spcBef>
                  <a:defRPr b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可提取性优势 (Extractability Advantage, Adv)：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定义为后验概率与先验概率的差值：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>
                  <a:defRPr i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Adv(A) = | Pr[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&gt; τ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] - Pr[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&gt; τ] |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Adv(A) 越接近 1，说明隐私泄露越严重 (攻击者获得了近乎完美的提取能力)。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955"/>
                <a:ext cx="11011535" cy="452628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1372215" cy="1143000"/>
          </a:xfrm>
        </p:spPr>
        <p:txBody>
          <a:bodyPr/>
          <a:lstStyle/>
          <a:p>
            <a:pPr algn="l"/>
            <a:r>
              <a:t>4. 效用-隐私张力定理 (The Tension Theorem)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0732135" cy="4526280"/>
              </a:xfrm>
            </p:spPr>
            <p:txBody>
              <a:bodyPr>
                <a:normAutofit fontScale="70000"/>
              </a:bodyPr>
              <a:lstStyle/>
              <a:p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>
                  <a:defRPr b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基于确定性映射的贝叶斯推断：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>
                  <a:defRPr i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Pr[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𝑑</m:t>
                        </m:r>
                      </m:e>
                      <m:sub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&gt; τ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𝐴</m:t>
                        </m:r>
                      </m:e>
                      <m:sub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]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>
                            <a:latin typeface="Times New Roman" panose="02020503050405090304" charset="0"/>
                            <a:cs typeface="Times New Roman" panose="02020503050405090304" charset="0"/>
                            <a:sym typeface="+mn-ea"/>
                          </a:rPr>
                          <m:t>Pr[</m:t>
                        </m:r>
                        <m:sSub>
                          <m:sSubPr>
                            <m:ctrlP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</m:ctrlPr>
                          </m:sSubPr>
                          <m:e>
                            <m: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  <m:t>𝐴</m:t>
                            </m:r>
                          </m:e>
                          <m:sub>
                            <m: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  <m:t>𝑣</m:t>
                            </m:r>
                          </m:sub>
                        </m:sSub>
                        <m:r>
                          <a:rPr>
                            <a:latin typeface="Times New Roman" panose="02020503050405090304" charset="0"/>
                            <a:cs typeface="Times New Roman" panose="02020503050405090304" charset="0"/>
                            <a:sym typeface="+mn-ea"/>
                          </a:rPr>
                          <m:t> | </m:t>
                        </m:r>
                        <m:sSub>
                          <m:sSubPr>
                            <m:ctrlP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</m:ctrlPr>
                          </m:sSubPr>
                          <m:e>
                            <m: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  <m:t>𝑑</m:t>
                            </m:r>
                          </m:e>
                          <m:sub>
                            <m: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  <m:t>𝑣</m:t>
                            </m:r>
                          </m:sub>
                        </m:sSub>
                        <m:r>
                          <a:rPr>
                            <a:latin typeface="Times New Roman" panose="02020503050405090304" charset="0"/>
                            <a:cs typeface="Times New Roman" panose="02020503050405090304" charset="0"/>
                            <a:sym typeface="+mn-ea"/>
                          </a:rPr>
                          <m:t> &gt; τ] · Pr[</m:t>
                        </m:r>
                        <m:sSub>
                          <m:sSubPr>
                            <m:ctrlP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</m:ctrlPr>
                          </m:sSubPr>
                          <m:e>
                            <m: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  <m:t>𝑑</m:t>
                            </m:r>
                          </m:e>
                          <m:sub>
                            <m: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  <m:t>𝑣</m:t>
                            </m:r>
                          </m:sub>
                        </m:sSub>
                        <m:r>
                          <a:rPr>
                            <a:latin typeface="Times New Roman" panose="02020503050405090304" charset="0"/>
                            <a:cs typeface="Times New Roman" panose="02020503050405090304" charset="0"/>
                            <a:sym typeface="+mn-ea"/>
                          </a:rPr>
                          <m:t> &gt; τ]</m:t>
                        </m:r>
                      </m:num>
                      <m:den>
                        <m:r>
                          <a:rPr>
                            <a:latin typeface="Times New Roman" panose="02020503050405090304" charset="0"/>
                            <a:cs typeface="Times New Roman" panose="02020503050405090304" charset="0"/>
                            <a:sym typeface="+mn-ea"/>
                          </a:rPr>
                          <m:t>Pr[</m:t>
                        </m:r>
                        <m:sSub>
                          <m:sSubPr>
                            <m:ctrlP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</m:ctrlPr>
                          </m:sSubPr>
                          <m:e>
                            <m: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  <m:t>𝐴</m:t>
                            </m:r>
                          </m:e>
                          <m:sub>
                            <m: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  <m:t>𝑣</m:t>
                            </m:r>
                          </m:sub>
                        </m:sSub>
                        <m:r>
                          <a:rPr>
                            <a:latin typeface="Times New Roman" panose="02020503050405090304" charset="0"/>
                            <a:cs typeface="Times New Roman" panose="02020503050405090304" charset="0"/>
                            <a:sym typeface="+mn-ea"/>
                          </a:rPr>
                          <m:t>]</m:t>
                        </m:r>
                      </m:den>
                    </m:f>
                  </m:oMath>
                </a14:m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 i="1">
                    <a:latin typeface="Times New Roman" panose="02020503050405090304" charset="0"/>
                    <a:cs typeface="Times New Roman" panose="02020503050405090304" charset="0"/>
                  </a:rPr>
                  <a:t>因为分配机制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𝐴</m:t>
                        </m:r>
                      </m:e>
                      <m:sub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i="1">
                    <a:latin typeface="Times New Roman" panose="02020503050405090304" charset="0"/>
                    <a:cs typeface="Times New Roman" panose="0202050305040509030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</m:ctrlPr>
                          </m:sSubPr>
                          <m:e>
                            <m: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  <m:t>𝑑</m:t>
                            </m:r>
                          </m:e>
                          <m:sub>
                            <m:r>
                              <a:rPr i="1">
                                <a:latin typeface="Times New Roman" panose="02020503050405090304" charset="0"/>
                                <a:cs typeface="Times New Roman" panose="02020503050405090304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i="1">
                    <a:latin typeface="Times New Roman" panose="02020503050405090304" charset="0"/>
                    <a:cs typeface="Times New Roman" panose="02020503050405090304" charset="0"/>
                  </a:rPr>
                  <a:t> 是完全确定性的，如果观测到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𝐴</m:t>
                        </m:r>
                      </m:e>
                      <m:sub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i="1">
                    <a:latin typeface="Times New Roman" panose="02020503050405090304" charset="0"/>
                    <a:cs typeface="Times New Roman" panose="02020503050405090304" charset="0"/>
                  </a:rPr>
                  <a:t> 很大：</a:t>
                </a:r>
                <a:endParaRPr i="1"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2" algn="ctr">
                  <a:defRPr i="1"/>
                </a:pPr>
                <a:r>
                  <a:rPr sz="2800">
                    <a:latin typeface="Times New Roman" panose="02020503050405090304" charset="0"/>
                    <a:cs typeface="Times New Roman" panose="02020503050405090304" charset="0"/>
                  </a:rPr>
                  <a:t>  </a:t>
                </a:r>
                <a:r>
                  <a:rPr sz="2800">
                    <a:latin typeface="Times New Roman" panose="02020503050405090304" charset="0"/>
                    <a:cs typeface="Times New Roman" panose="02020503050405090304" charset="0"/>
                    <a:sym typeface="+mn-ea"/>
                  </a:rPr>
                  <a:t>Pr[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𝐴</m:t>
                        </m:r>
                      </m:e>
                      <m:sub>
                        <m: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sz="2800">
                    <a:latin typeface="Times New Roman" panose="02020503050405090304" charset="0"/>
                    <a:cs typeface="Times New Roman" panose="02020503050405090304" charset="0"/>
                    <a:sym typeface="+mn-ea"/>
                  </a:rPr>
                  <a:t>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𝑑</m:t>
                        </m:r>
                      </m:e>
                      <m:sub>
                        <m: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sz="2800">
                    <a:latin typeface="Times New Roman" panose="02020503050405090304" charset="0"/>
                    <a:cs typeface="Times New Roman" panose="02020503050405090304" charset="0"/>
                    <a:sym typeface="+mn-ea"/>
                  </a:rPr>
                  <a:t> &gt; τ]</a:t>
                </a:r>
                <a:r>
                  <a:rPr sz="2800">
                    <a:latin typeface="Times New Roman" panose="02020503050405090304" charset="0"/>
                    <a:cs typeface="Times New Roman" panose="02020503050405090304" charset="0"/>
                  </a:rPr>
                  <a:t> ≈ 1  且  Pr[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𝐴</m:t>
                        </m:r>
                      </m:e>
                      <m:sub>
                        <m: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sz="2800">
                    <a:latin typeface="Times New Roman" panose="02020503050405090304" charset="0"/>
                    <a:cs typeface="Times New Roman" panose="02020503050405090304" charset="0"/>
                    <a:sym typeface="+mn-ea"/>
                  </a:rPr>
                  <a:t>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𝑑</m:t>
                        </m:r>
                      </m:e>
                      <m:sub>
                        <m:r>
                          <a:rPr sz="2800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sz="2800">
                    <a:latin typeface="Times New Roman" panose="02020503050405090304" charset="0"/>
                    <a:cs typeface="Times New Roman" panose="02020503050405090304" charset="0"/>
                    <a:sym typeface="+mn-ea"/>
                  </a:rPr>
                  <a:t> </a:t>
                </a:r>
                <a:r>
                  <a:rPr sz="2800">
                    <a:latin typeface="Times New Roman" panose="02020503050405090304" charset="0"/>
                    <a:cs typeface="Times New Roman" panose="02020503050405090304" charset="0"/>
                  </a:rPr>
                  <a:t> &lt; τ] ≈ 0</a:t>
                </a:r>
                <a:endParaRPr sz="2800"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>
                  <a:spcBef>
                    <a:spcPts val="1400"/>
                  </a:spcBef>
                  <a:defRPr b="1"/>
                </a:pPr>
                <a:r>
                  <a:rPr sz="2800" b="0" i="1">
                    <a:latin typeface="Times New Roman" panose="02020503050405090304" charset="0"/>
                    <a:cs typeface="Times New Roman" panose="02020503050405090304" charset="0"/>
                  </a:rPr>
                  <a:t>定理推导结果：</a:t>
                </a:r>
                <a:endParaRPr sz="2800" b="0" i="1"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/>
                <a:r>
                  <a:rPr i="1">
                    <a:latin typeface="Times New Roman" panose="02020503050405090304" charset="0"/>
                    <a:cs typeface="Times New Roman" panose="02020503050405090304" charset="0"/>
                  </a:rPr>
                  <a:t>条件概率的坍缩导致后验概率无限逼近于 100%。</a:t>
                </a:r>
                <a:endParaRPr i="1"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>
                  <a:defRPr i="1"/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Adv(A) ≈ 1 - Pr[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𝑑</m:t>
                        </m:r>
                      </m:e>
                      <m:sub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 &gt; τ] ≈ 0.99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  <a:p>
                <a:pPr lvl="1">
                  <a:defRPr b="1">
                    <a:solidFill>
                      <a:srgbClr val="C80000"/>
                    </a:solidFill>
                  </a:defRPr>
                </a:pPr>
                <a:r>
                  <a:rPr>
                    <a:latin typeface="Times New Roman" panose="02020503050405090304" charset="0"/>
                    <a:cs typeface="Times New Roman" panose="02020503050405090304" charset="0"/>
                  </a:rPr>
                  <a:t>结论：在图流摘要中，确定性的偏斜感知资源分配 (Skew-awareness) 在数学上必然导致攻击者获得近乎完美的 Hub 提取能力。这就是不可调和的效用-隐私张力。</a:t>
                </a:r>
                <a:endParaRPr>
                  <a:latin typeface="Times New Roman" panose="02020503050405090304" charset="0"/>
                  <a:cs typeface="Times New Roman" panose="020205030504050903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0732135" cy="452628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11138535" cy="1143000"/>
          </a:xfrm>
        </p:spPr>
        <p:txBody>
          <a:bodyPr/>
          <a:lstStyle/>
          <a:p>
            <a:pPr algn="l"/>
            <a:r>
              <a:t>5. 破局思路：P-Scube 的防御机制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1078210" cy="4526280"/>
              </a:xfrm>
            </p:spPr>
            <p:txBody>
              <a:bodyPr>
                <a:normAutofit fontScale="70000"/>
              </a:bodyPr>
              <a:lstStyle/>
              <a:p/>
              <a:p>
                <a:pPr>
                  <a:defRPr b="1"/>
                </a:pPr>
                <a:r>
                  <a:t>核心目标：打破确定性，引入度数不可区分性 (Degree Indistinguishability)</a:t>
                </a:r>
              </a:p>
              <a:p>
                <a:pPr lvl="1"/>
                <a:r>
                  <a:t>必须在数学上限制攻击者区分两个相似度数节点的能力 (满足 Local DP)：</a:t>
                </a:r>
              </a:p>
              <a:p>
                <a:pPr lvl="1">
                  <a:defRPr i="1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i="1">
                                    <a:latin typeface="Times New Roman" panose="02020503050405090304" charset="0"/>
                                    <a:cs typeface="Times New Roman" panose="0202050305040509030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Times New Roman" panose="02020503050405090304" charset="0"/>
                                    <a:cs typeface="Times New Roman" panose="02020503050405090304" charset="0"/>
                                  </a:rPr>
                                  <m:t>𝑃𝑟</m:t>
                                </m:r>
                                <m:r>
                                  <a:rPr lang="en-US" i="1">
                                    <a:latin typeface="Times New Roman" panose="02020503050405090304" charset="0"/>
                                    <a:cs typeface="Times New Roman" panose="02020503050405090304" charset="0"/>
                                  </a:rPr>
                                  <m:t>[</m:t>
                                </m:r>
                                <m:r>
                                  <a:rPr i="1">
                                    <a:latin typeface="Times New Roman" panose="02020503050405090304" charset="0"/>
                                    <a:cs typeface="Times New Roman" panose="02020503050405090304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latin typeface="Times New Roman" panose="02020503050405090304" charset="0"/>
                                    <a:cs typeface="Times New Roman" panose="02020503050405090304" charset="0"/>
                                  </a:rPr>
                                  <m:t>𝑢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𝑘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]</m:t>
                        </m:r>
                      </m:num>
                      <m:den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𝑃𝑟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[</m:t>
                        </m:r>
                        <m:sSup>
                          <m:sSupPr>
                            <m:ctrlPr>
                              <a:rPr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i="1">
                                    <a:latin typeface="Times New Roman" panose="02020503050405090304" charset="0"/>
                                    <a:cs typeface="Times New Roman" panose="02020503050405090304" charset="0"/>
                                  </a:rPr>
                                </m:ctrlPr>
                              </m:sSubPr>
                              <m:e>
                                <m:r>
                                  <a:rPr i="1">
                                    <a:latin typeface="Times New Roman" panose="02020503050405090304" charset="0"/>
                                    <a:cs typeface="Times New Roman" panose="02020503050405090304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latin typeface="Times New Roman" panose="02020503050405090304" charset="0"/>
                                    <a:cs typeface="Times New Roman" panose="02020503050405090304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𝑘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]</m:t>
                        </m:r>
                      </m:den>
                    </m:f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𝜀</m:t>
                        </m:r>
                      </m:sup>
                    </m:sSup>
                  </m:oMath>
                </a14:m>
              </a:p>
              <a:p>
                <a:pPr>
                  <a:spcBef>
                    <a:spcPts val="1400"/>
                  </a:spcBef>
                  <a:defRPr b="1"/>
                </a:pPr>
                <a:r>
                  <a:t>P-Scube 的双重机制：</a:t>
                </a:r>
              </a:p>
              <a:p>
                <a:pPr lvl="1"/>
                <a:r>
                  <a:t>1. 单调加噪升级 (Monotonic Noisy Promotion)：</a:t>
                </a:r>
              </a:p>
              <a:p>
                <a:pPr lvl="2">
                  <a:defRPr i="1"/>
                </a:pPr>
                <a:r>
                  <a:t>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𝑣</m:t>
                            </m:r>
                          </m:sub>
                        </m:sSub>
                      </m:e>
                    </m:acc>
                  </m:oMath>
                </a14:m>
                <a: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t> + Laplace(λ)</a:t>
                </a:r>
              </a:p>
              <a:p>
                <a:pPr lvl="2"/>
                <a:r>
                  <a:t>  (度数为 500 的节点也有概率得分超过 600 的升级阈值，打破确定性)</a:t>
                </a:r>
              </a:p>
              <a:p>
                <a:pPr lvl="1"/>
                <a:r>
                  <a:t>2. 粗粒度资源分配 (Coarsened Allocation)：</a:t>
                </a:r>
              </a:p>
              <a:p>
                <a:pPr lvl="2">
                  <a:defRPr i="1"/>
                </a:pPr>
                <a:r>
                  <a:t>  将细粒度的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t>∈ {2,3,4,5,6} 映射为粗粒度桶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</m:ctrlPr>
                      </m:sSubPr>
                      <m:e>
                        <m:r>
                          <a:rPr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Times New Roman" panose="02020503050405090304" charset="0"/>
                            <a:cs typeface="Times New Roman" panose="0202050305040509030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t>* ∈ {2, 4, 6}</a:t>
                </a:r>
              </a:p>
              <a:p>
                <a:pPr lvl="2"/>
                <a:r>
                  <a:t>  (度数 400 和 600 的节点被强行塞入同一个“4地址桶”，彻底阻断细粒度推断)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1078210" cy="452628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1816</Words>
  <Application>WPS Writer</Application>
  <PresentationFormat>On-screen Show (4:3)</PresentationFormat>
  <Paragraphs>62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Helvetica Neue</vt:lpstr>
      <vt:lpstr>SimSun</vt:lpstr>
      <vt:lpstr>宋体-简</vt:lpstr>
      <vt:lpstr>Microsoft YaHei</vt:lpstr>
      <vt:lpstr>汉仪旗黑</vt:lpstr>
      <vt:lpstr>Arial Unicode MS</vt:lpstr>
      <vt:lpstr>Apple Symbols</vt:lpstr>
      <vt:lpstr>DejaVu Math TeX Gyre</vt:lpstr>
      <vt:lpstr>Times New Roman</vt:lpstr>
      <vt:lpstr>Office Theme</vt:lpstr>
      <vt:lpstr>问题建模：效用与隐私的张力</vt:lpstr>
      <vt:lpstr>1. 背景定义：图流与偏斜感知</vt:lpstr>
      <vt:lpstr>2. 攻击者模型 (The Adversary Model)</vt:lpstr>
      <vt:lpstr>3. 隐私泄露的形式化量化</vt:lpstr>
      <vt:lpstr>4. 效用-隐私张力定理 (The Tension Theorem)</vt:lpstr>
      <vt:lpstr>5. 破局思路：P-Scube 的防御机制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yenyong leong</cp:lastModifiedBy>
  <cp:revision>7</cp:revision>
  <dcterms:created xsi:type="dcterms:W3CDTF">2026-03-20T04:52:30Z</dcterms:created>
  <dcterms:modified xsi:type="dcterms:W3CDTF">2026-03-20T04:52:30Z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6854E3CF7652648873DEBB6968CF29C0_42</vt:lpwstr>
  </property>
  <property fmtid="{D5CDD505-2E9C-101B-9397-08002B2CF9AE}" pid="3" name="KSOProductBuildVer">
    <vt:lpwstr>1033-12.1.23155.23155</vt:lpwstr>
  </property>
</Properties>
</file>