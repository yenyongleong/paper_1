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8" r:id="rId3"/>
    <p:sldId id="260" r:id="rId5"/>
    <p:sldId id="261" r:id="rId6"/>
    <p:sldId id="262" r:id="rId7"/>
    <p:sldId id="263" r:id="rId8"/>
    <p:sldId id="264" r:id="rId9"/>
    <p:sldId id="266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7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17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>
                <a:sym typeface="+mn-ea"/>
              </a:rPr>
              <a:t>hub utility gain 可能伴随 hub privacy leakage gain。</a:t>
            </a:r>
            <a:endParaRPr>
              <a:sym typeface="+mn-ea"/>
            </a:endParaRPr>
          </a:p>
          <a:p>
            <a:endParaRPr lang="en-US"/>
          </a:p>
          <a:p>
            <a:r>
              <a:rPr>
                <a:sym typeface="+mn-ea"/>
              </a:rPr>
              <a:t>1. `SCube` 是否更易泄露 hub？</a:t>
            </a:r>
            <a:br>
              <a:rPr>
                <a:sym typeface="+mn-ea"/>
              </a:rPr>
            </a:br>
            <a:r>
              <a:rPr>
                <a:sym typeface="+mn-ea"/>
              </a:rPr>
              <a:t>2. 能否低代价缓解？</a:t>
            </a:r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第一个机制叫</a:t>
            </a:r>
            <a:r>
              <a:rPr lang="en-US" altLang="en-US"/>
              <a:t> Noisy Degree Promotion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en-US"/>
          </a:p>
          <a:p>
            <a:r>
              <a:rPr lang="zh-CN" altLang="en-US"/>
              <a:t>原来的</a:t>
            </a:r>
            <a:r>
              <a:rPr lang="en-US" altLang="en-US"/>
              <a:t> Scube </a:t>
            </a:r>
            <a:r>
              <a:rPr lang="zh-CN" altLang="en-US"/>
              <a:t>里，一个节点什么时候升级、什么时候拿到更多地址，基本是由一个确定的阈值决定的。所以地址数和真实度之间有很强的单调关系</a:t>
            </a:r>
            <a:r>
              <a:rPr lang="en-US" altLang="zh-CN"/>
              <a:t>，</a:t>
            </a:r>
            <a:endParaRPr lang="en-US" altLang="zh-CN"/>
          </a:p>
          <a:p>
            <a:r>
              <a:rPr lang="zh-CN" altLang="en-US"/>
              <a:t>在这个升级阈值上加入随机扰动。这样一来，节点不再是</a:t>
            </a:r>
            <a:r>
              <a:rPr lang="en-US" altLang="en-US"/>
              <a:t>“</a:t>
            </a:r>
            <a:r>
              <a:rPr lang="zh-CN" altLang="en-US"/>
              <a:t>到线就一定升级</a:t>
            </a:r>
            <a:r>
              <a:rPr lang="en-US" altLang="en-US"/>
              <a:t>”</a:t>
            </a:r>
            <a:r>
              <a:rPr lang="zh-CN" altLang="en-US"/>
              <a:t>，而更像是</a:t>
            </a:r>
            <a:r>
              <a:rPr lang="en-US" altLang="en-US"/>
              <a:t>“</a:t>
            </a:r>
            <a:r>
              <a:rPr lang="zh-CN" altLang="en-US"/>
              <a:t>到线附近会概率性升级</a:t>
            </a:r>
            <a:r>
              <a:rPr lang="en-US" altLang="en-US"/>
              <a:t>”</a:t>
            </a:r>
            <a:r>
              <a:rPr lang="zh-CN" altLang="en-US"/>
              <a:t>。这样攻击者就很难仅凭地址等级去稳定地恢复</a:t>
            </a:r>
            <a:r>
              <a:rPr lang="en-US" altLang="en-US"/>
              <a:t> hub </a:t>
            </a:r>
            <a:r>
              <a:rPr lang="zh-CN" altLang="en-US"/>
              <a:t>排名。</a:t>
            </a:r>
            <a:endParaRPr lang="zh-CN" altLang="en-US"/>
          </a:p>
          <a:p>
            <a:endParaRPr lang="en-US" altLang="en-US"/>
          </a:p>
          <a:p>
            <a:r>
              <a:rPr lang="zh-CN" altLang="en-US"/>
              <a:t>第二个机制叫</a:t>
            </a:r>
            <a:r>
              <a:rPr lang="en-US" altLang="en-US"/>
              <a:t> Coarsened Address Allocation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en-US"/>
          </a:p>
          <a:p>
            <a:r>
              <a:rPr lang="zh-CN" altLang="en-US"/>
              <a:t>原始</a:t>
            </a:r>
            <a:r>
              <a:rPr lang="en-US" altLang="en-US"/>
              <a:t> Scube </a:t>
            </a:r>
            <a:r>
              <a:rPr lang="zh-CN" altLang="en-US"/>
              <a:t>的地址等级很细，比如</a:t>
            </a:r>
            <a:r>
              <a:rPr lang="en-US" altLang="en-US"/>
              <a:t> 2</a:t>
            </a:r>
            <a:r>
              <a:rPr lang="zh-CN" altLang="en-US"/>
              <a:t>、</a:t>
            </a:r>
            <a:r>
              <a:rPr lang="en-US" altLang="en-US"/>
              <a:t>3</a:t>
            </a:r>
            <a:r>
              <a:rPr lang="zh-CN" altLang="en-US"/>
              <a:t>、</a:t>
            </a:r>
            <a:r>
              <a:rPr lang="en-US" altLang="en-US"/>
              <a:t>4</a:t>
            </a:r>
            <a:r>
              <a:rPr lang="zh-CN" altLang="en-US"/>
              <a:t>、</a:t>
            </a:r>
            <a:r>
              <a:rPr lang="en-US" altLang="en-US"/>
              <a:t>5</a:t>
            </a:r>
            <a:r>
              <a:rPr lang="zh-CN" altLang="en-US"/>
              <a:t>、</a:t>
            </a:r>
            <a:r>
              <a:rPr lang="en-US" altLang="en-US"/>
              <a:t>6……</a:t>
            </a:r>
            <a:endParaRPr lang="en-US" altLang="en-US"/>
          </a:p>
          <a:p>
            <a:r>
              <a:rPr lang="zh-CN" altLang="en-US"/>
              <a:t>这意味着地址数本身就像一个很精细的指纹。</a:t>
            </a:r>
            <a:endParaRPr lang="zh-CN" altLang="en-US"/>
          </a:p>
          <a:p>
            <a:endParaRPr lang="en-US" altLang="en-US"/>
          </a:p>
          <a:p>
            <a:r>
              <a:rPr lang="zh-CN" altLang="en-US"/>
              <a:t>比如只保留</a:t>
            </a:r>
            <a:r>
              <a:rPr lang="en-US" altLang="en-US"/>
              <a:t> 2 / 4 / 6 </a:t>
            </a:r>
            <a:r>
              <a:rPr lang="zh-CN" altLang="en-US"/>
              <a:t>这样的少量等级。这样多个不同度数的节点就会落进同一个桶里，攻击者看到的只是一个粗粒度类别，而不是精确等级。</a:t>
            </a:r>
            <a:endParaRPr lang="zh-CN" altLang="en-US"/>
          </a:p>
          <a:p>
            <a:endParaRPr lang="en-US" altLang="en-US"/>
          </a:p>
          <a:p>
            <a:r>
              <a:rPr lang="zh-CN" altLang="en-US"/>
              <a:t>这一页上我还专门写了三类注释，答辩时你可以顺着讲：</a:t>
            </a:r>
            <a:endParaRPr lang="zh-CN" altLang="en-US"/>
          </a:p>
          <a:p>
            <a:endParaRPr lang="en-US" altLang="en-US"/>
          </a:p>
          <a:p>
            <a:r>
              <a:rPr lang="zh-CN" altLang="en-US"/>
              <a:t>它主要保护什么</a:t>
            </a:r>
            <a:endParaRPr lang="zh-CN" altLang="en-US"/>
          </a:p>
          <a:p>
            <a:r>
              <a:rPr lang="zh-CN" altLang="en-US"/>
              <a:t>它代价是什么</a:t>
            </a:r>
            <a:endParaRPr lang="zh-CN" altLang="en-US"/>
          </a:p>
          <a:p>
            <a:r>
              <a:rPr lang="zh-CN" altLang="en-US"/>
              <a:t>它大概改的是哪一部分逻辑</a:t>
            </a:r>
            <a:endParaRPr lang="zh-CN" altLang="en-US"/>
          </a:p>
          <a:p>
            <a:r>
              <a:rPr lang="zh-CN" altLang="en-US"/>
              <a:t>这样老师如果问</a:t>
            </a:r>
            <a:r>
              <a:rPr lang="en-US" altLang="en-US"/>
              <a:t>‘</a:t>
            </a:r>
            <a:r>
              <a:rPr lang="zh-CN" altLang="en-US"/>
              <a:t>你到底改了哪</a:t>
            </a:r>
            <a:r>
              <a:rPr lang="en-US" altLang="en-US"/>
              <a:t>’</a:t>
            </a:r>
            <a:r>
              <a:rPr lang="zh-CN" altLang="en-US"/>
              <a:t>，你就不会只停留在概念层面。</a:t>
            </a:r>
            <a:r>
              <a:rPr lang="en-US" altLang="en-US"/>
              <a:t>”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第一个是</a:t>
            </a:r>
            <a:r>
              <a:rPr lang="en-US" altLang="en-US"/>
              <a:t> LeakageGain</a:t>
            </a:r>
            <a:r>
              <a:rPr lang="zh-CN" altLang="en-US"/>
              <a:t>，表示</a:t>
            </a:r>
            <a:r>
              <a:rPr lang="en-US" altLang="en-US"/>
              <a:t> SCube </a:t>
            </a:r>
            <a:r>
              <a:rPr lang="zh-CN" altLang="en-US"/>
              <a:t>相比</a:t>
            </a:r>
            <a:r>
              <a:rPr lang="en-US" altLang="en-US"/>
              <a:t> GSS </a:t>
            </a:r>
            <a:r>
              <a:rPr lang="zh-CN" altLang="en-US"/>
              <a:t>多泄露了多少。</a:t>
            </a:r>
            <a:endParaRPr lang="zh-CN" altLang="en-US"/>
          </a:p>
          <a:p>
            <a:r>
              <a:rPr lang="zh-CN" altLang="en-US"/>
              <a:t>如果这个值明显大于</a:t>
            </a:r>
            <a:r>
              <a:rPr lang="en-US" altLang="en-US"/>
              <a:t> 0</a:t>
            </a:r>
            <a:r>
              <a:rPr lang="zh-CN" altLang="en-US"/>
              <a:t>，就说明</a:t>
            </a:r>
            <a:r>
              <a:rPr lang="en-US" altLang="en-US"/>
              <a:t> skew-aware </a:t>
            </a:r>
            <a:r>
              <a:rPr lang="zh-CN" altLang="en-US"/>
              <a:t>机制确实带来了附加泄露。</a:t>
            </a:r>
            <a:endParaRPr lang="zh-CN" altLang="en-US"/>
          </a:p>
          <a:p>
            <a:endParaRPr lang="en-US" altLang="en-US"/>
          </a:p>
          <a:p>
            <a:r>
              <a:rPr lang="zh-CN" altLang="en-US"/>
              <a:t>第二个是</a:t>
            </a:r>
            <a:r>
              <a:rPr lang="en-US" altLang="en-US"/>
              <a:t> MitigationGain</a:t>
            </a:r>
            <a:r>
              <a:rPr lang="zh-CN" altLang="en-US"/>
              <a:t>，表示</a:t>
            </a:r>
            <a:r>
              <a:rPr lang="en-US" altLang="en-US"/>
              <a:t> P-SCube </a:t>
            </a:r>
            <a:r>
              <a:rPr lang="zh-CN" altLang="en-US"/>
              <a:t>相比</a:t>
            </a:r>
            <a:r>
              <a:rPr lang="en-US" altLang="en-US"/>
              <a:t> SCube </a:t>
            </a:r>
            <a:r>
              <a:rPr lang="zh-CN" altLang="en-US"/>
              <a:t>降低了多少泄露。</a:t>
            </a:r>
            <a:endParaRPr lang="zh-CN" altLang="en-US"/>
          </a:p>
          <a:p>
            <a:r>
              <a:rPr lang="zh-CN" altLang="en-US"/>
              <a:t>如果这个值足够大，就说明我的保护机制有效。</a:t>
            </a:r>
            <a:endParaRPr lang="zh-CN" altLang="en-US"/>
          </a:p>
          <a:p>
            <a:endParaRPr lang="zh-CN" altLang="en-US"/>
          </a:p>
          <a:p>
            <a:r>
              <a:rPr lang="en-US" altLang="en-US"/>
              <a:t>privacy-utility frontier </a:t>
            </a:r>
            <a:r>
              <a:rPr lang="zh-CN" altLang="en-US"/>
              <a:t>可以理解成：在不同保护强度下，隐私提升和可用性损失之间的边界曲线。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6075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SCUBE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Scube 的中心思想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Calibri"/>
              </a:defRPr>
            </a:pPr>
            <a:r>
              <a:t>Scube 的本质不是“更大的 sketch”，而是“有选择地优待高度节点”。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3474720" cy="16078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62505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Calibri"/>
              </a:defRPr>
            </a:pPr>
            <a:r>
              <a:t>① 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DegDetector 估计节点活跃度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318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Calibri"/>
              </a:defRPr>
            </a:pPr>
            <a:r>
              <a:t>谁更活跃，谁更可能成为 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03120"/>
            <a:ext cx="3474720" cy="1622425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262505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696"/>
                </a:solidFill>
                <a:latin typeface="Calibri"/>
              </a:defRPr>
            </a:pPr>
            <a:r>
              <a:t>② Allocate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788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给 hub 更多地址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141345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Calibri"/>
              </a:defRPr>
            </a:pPr>
            <a:r>
              <a:t>普通节点 2 个地址，hub 可以有 3、4、5...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103120"/>
            <a:ext cx="3474720" cy="16332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A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262505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A040"/>
                </a:solidFill>
                <a:latin typeface="Calibri"/>
              </a:defRPr>
            </a:pPr>
            <a:r>
              <a:t>③ Benefit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88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减少冲突、提高查询质量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14071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Calibri"/>
              </a:defRPr>
            </a:pPr>
            <a:r>
              <a:t>因此 hub 的 accuracy 与 latency 都更好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13835"/>
            <a:ext cx="10789920" cy="86868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294505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关键理解：Scube 通过“差异化服务”换来性能提升，而隐私问题正是从这种差异化开始的。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5330190"/>
            <a:ext cx="2483485" cy="1198245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25955" y="5120640"/>
            <a:ext cx="552450" cy="542290"/>
          </a:xfrm>
          <a:prstGeom prst="ellipse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1B2F"/>
                </a:solidFill>
              </a:defRPr>
            </a:pPr>
            <a:r>
              <a:t>1</a:t>
            </a:r>
          </a:p>
        </p:txBody>
      </p:sp>
      <p:sp>
        <p:nvSpPr>
          <p:cNvPr id="21" name="TextBox 6"/>
          <p:cNvSpPr txBox="1"/>
          <p:nvPr/>
        </p:nvSpPr>
        <p:spPr>
          <a:xfrm>
            <a:off x="1132205" y="5669280"/>
            <a:ext cx="2138045" cy="2711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200" b="1">
                <a:solidFill>
                  <a:srgbClr val="BBBBCC"/>
                </a:solidFill>
                <a:latin typeface="Calibri"/>
              </a:defRPr>
            </a:pPr>
            <a:r>
              <a:t>普通 sketch</a:t>
            </a:r>
          </a:p>
        </p:txBody>
      </p:sp>
      <p:sp>
        <p:nvSpPr>
          <p:cNvPr id="22" name="TextBox 7"/>
          <p:cNvSpPr txBox="1"/>
          <p:nvPr/>
        </p:nvSpPr>
        <p:spPr>
          <a:xfrm>
            <a:off x="1076960" y="6022340"/>
            <a:ext cx="2235200" cy="3054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所有节点近似同等对待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5330190"/>
            <a:ext cx="2483485" cy="1198245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20715" y="5106670"/>
            <a:ext cx="552450" cy="54229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1B2F"/>
                </a:solidFill>
              </a:defRPr>
            </a:pPr>
            <a:r>
              <a:t>2</a:t>
            </a:r>
          </a:p>
        </p:txBody>
      </p:sp>
      <p:sp>
        <p:nvSpPr>
          <p:cNvPr id="25" name="TextBox 10"/>
          <p:cNvSpPr txBox="1"/>
          <p:nvPr/>
        </p:nvSpPr>
        <p:spPr>
          <a:xfrm>
            <a:off x="4927600" y="5664200"/>
            <a:ext cx="2138045" cy="2711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SCube</a:t>
            </a:r>
          </a:p>
        </p:txBody>
      </p:sp>
      <p:sp>
        <p:nvSpPr>
          <p:cNvPr id="26" name="TextBox 11"/>
          <p:cNvSpPr txBox="1"/>
          <p:nvPr/>
        </p:nvSpPr>
        <p:spPr>
          <a:xfrm>
            <a:off x="4871720" y="6022340"/>
            <a:ext cx="2138045" cy="3054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优先保障 hub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49640" y="5330190"/>
            <a:ext cx="2483485" cy="1198245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14840" y="5127625"/>
            <a:ext cx="552450" cy="54229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1B2F"/>
                </a:solidFill>
              </a:defRPr>
            </a:pPr>
            <a:r>
              <a:t>3</a:t>
            </a:r>
          </a:p>
        </p:txBody>
      </p:sp>
      <p:sp>
        <p:nvSpPr>
          <p:cNvPr id="29" name="TextBox 14"/>
          <p:cNvSpPr txBox="1"/>
          <p:nvPr/>
        </p:nvSpPr>
        <p:spPr>
          <a:xfrm>
            <a:off x="8666480" y="5669915"/>
            <a:ext cx="2138045" cy="2711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200" b="1">
                <a:solidFill>
                  <a:srgbClr val="FF6B6B"/>
                </a:solidFill>
                <a:latin typeface="Calibri"/>
              </a:defRPr>
            </a:pPr>
            <a:r>
              <a:t>副作用</a:t>
            </a:r>
          </a:p>
        </p:txBody>
      </p:sp>
      <p:sp>
        <p:nvSpPr>
          <p:cNvPr id="30" name="TextBox 15"/>
          <p:cNvSpPr txBox="1"/>
          <p:nvPr/>
        </p:nvSpPr>
        <p:spPr>
          <a:xfrm>
            <a:off x="8666480" y="6022340"/>
            <a:ext cx="2138045" cy="3054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hub 更容易被识别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733800" y="5669915"/>
            <a:ext cx="731520" cy="5054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32" name="Right Arrow 31"/>
          <p:cNvSpPr/>
          <p:nvPr/>
        </p:nvSpPr>
        <p:spPr>
          <a:xfrm>
            <a:off x="7527925" y="5669915"/>
            <a:ext cx="731520" cy="5054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33" name="Text Box 32"/>
          <p:cNvSpPr txBox="1"/>
          <p:nvPr/>
        </p:nvSpPr>
        <p:spPr>
          <a:xfrm>
            <a:off x="2854325" y="209550"/>
            <a:ext cx="91243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bg1"/>
                </a:solidFill>
              </a:rPr>
              <a:t>Ming Chen, Renxiang Zhou, Hanhua Chen, Hai Jin: Scube: Efficient Summarization for Skewed Graph Streams. ICDCS 2022: 100-110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PRIVACY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22655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Privacy Demo：实验设置与 Hub 提取结果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48840"/>
            <a:ext cx="3840480" cy="2888615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9933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实验设置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56535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●  </a:t>
            </a:r>
            <a:r>
              <a:rPr sz="1500">
                <a:solidFill>
                  <a:srgbClr val="BBBBCC"/>
                </a:solidFill>
                <a:latin typeface="Calibri"/>
              </a:rPr>
              <a:t>5000 个节点，903,858 条边</a:t>
            </a:r>
            <a:endParaRPr sz="1500">
              <a:solidFill>
                <a:srgbClr val="BBBBCC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●  </a:t>
            </a:r>
            <a:r>
              <a:rPr sz="1500">
                <a:solidFill>
                  <a:srgbClr val="BBBBCC"/>
                </a:solidFill>
                <a:latin typeface="Calibri"/>
              </a:rPr>
              <a:t>Zipf 度分布，`gamma = 1.2`</a:t>
            </a:r>
            <a:endParaRPr sz="1500">
              <a:solidFill>
                <a:srgbClr val="BBBBCC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●  </a:t>
            </a:r>
            <a:r>
              <a:rPr sz="1500">
                <a:solidFill>
                  <a:srgbClr val="BBBBCC"/>
                </a:solidFill>
                <a:latin typeface="Calibri"/>
              </a:rPr>
              <a:t>矩阵大小 `3000 x 3000`</a:t>
            </a:r>
            <a:endParaRPr sz="1500">
              <a:solidFill>
                <a:srgbClr val="BBBBCC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●  </a:t>
            </a:r>
            <a:r>
              <a:rPr sz="1500">
                <a:solidFill>
                  <a:srgbClr val="BBBBCC"/>
                </a:solidFill>
                <a:latin typeface="Calibri"/>
              </a:rPr>
              <a:t>真实度统计：Median = 19，P99 = 1978，Max = 2261</a:t>
            </a:r>
            <a:endParaRPr sz="1500">
              <a:solidFill>
                <a:srgbClr val="BBBBCC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709160" y="2148205"/>
            <a:ext cx="6812280" cy="2880995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22860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Calibri"/>
              </a:defRPr>
            </a:pPr>
            <a:r>
              <a:t>Attack 1: Top-K Hub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2743200"/>
            <a:ext cx="612648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●  </a:t>
            </a:r>
            <a:r>
              <a:rPr sz="1500">
                <a:solidFill>
                  <a:srgbClr val="BBBBCC"/>
                </a:solidFill>
                <a:latin typeface="Calibri"/>
              </a:rPr>
              <a:t>对全部节点执行 `nodeWeightQuery(v, 0)` 并排序</a:t>
            </a:r>
            <a:endParaRPr sz="1500">
              <a:solidFill>
                <a:srgbClr val="BBBBCC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●  </a:t>
            </a:r>
            <a:r>
              <a:rPr sz="1500">
                <a:solidFill>
                  <a:srgbClr val="BBBBCC"/>
                </a:solidFill>
                <a:latin typeface="Calibri"/>
              </a:rPr>
              <a:t>`Precision@10 = 100%`，`Precision@20 = 100%`</a:t>
            </a:r>
            <a:endParaRPr sz="1500">
              <a:solidFill>
                <a:srgbClr val="BBBBCC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●  </a:t>
            </a:r>
            <a:r>
              <a:rPr sz="1500">
                <a:solidFill>
                  <a:srgbClr val="BBBBCC"/>
                </a:solidFill>
                <a:latin typeface="Calibri"/>
              </a:rPr>
              <a:t>`Precision@50 = 98%`，`Precision@100 = 100%`</a:t>
            </a:r>
            <a:endParaRPr sz="1500">
              <a:solidFill>
                <a:srgbClr val="BBBBCC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●   </a:t>
            </a:r>
            <a:r>
              <a:rPr sz="1500">
                <a:solidFill>
                  <a:srgbClr val="BBBBCC"/>
                </a:solidFill>
                <a:latin typeface="Calibri"/>
              </a:rPr>
              <a:t>Hub 与 Non-hub 的平均相对误差都接近 `0%`</a:t>
            </a:r>
            <a:endParaRPr sz="1500">
              <a:solidFill>
                <a:srgbClr val="BBBBCC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5303520"/>
            <a:ext cx="10698480" cy="77724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513832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Calibri"/>
              </a:defRPr>
            </a:pPr>
            <a:r>
              <a:t>结论 1：仅凭公开节点查询，攻击者几乎可以直接恢复 hub 排名。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PRIVACY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Privacy Demo：边探测与时延侧信道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03520" cy="338328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A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040"/>
                </a:solidFill>
                <a:latin typeface="Calibri"/>
              </a:defRPr>
            </a:pPr>
            <a:r>
              <a:t>Attack 2: Sensitive Edge Probing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11450"/>
            <a:ext cx="4833620" cy="170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●  </a:t>
            </a:r>
            <a:r>
              <a:rPr sz="1500">
                <a:solidFill>
                  <a:srgbClr val="BBBBCC"/>
                </a:solidFill>
                <a:latin typeface="Calibri"/>
              </a:rPr>
              <a:t>测试集：100 条真实边 + 100 条不存在边</a:t>
            </a:r>
            <a:endParaRPr sz="1500">
              <a:solidFill>
                <a:srgbClr val="BBBBCC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●  </a:t>
            </a:r>
            <a:r>
              <a:rPr sz="1500">
                <a:solidFill>
                  <a:srgbClr val="BBBBCC"/>
                </a:solidFill>
                <a:latin typeface="Calibri"/>
              </a:rPr>
              <a:t>结果：`TP = 100`，`FP = 0`，`TN = 100`，`FN = 0`</a:t>
            </a:r>
            <a:endParaRPr sz="1500">
              <a:solidFill>
                <a:srgbClr val="BBBBCC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●  </a:t>
            </a:r>
            <a:r>
              <a:rPr sz="1500">
                <a:solidFill>
                  <a:srgbClr val="BBBBCC"/>
                </a:solidFill>
                <a:latin typeface="Calibri"/>
              </a:rPr>
              <a:t>`Precision = 100%`，`Recall = 100%`，`FPR = 0%`</a:t>
            </a:r>
            <a:endParaRPr sz="1500">
              <a:solidFill>
                <a:srgbClr val="BBBBCC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●  </a:t>
            </a:r>
            <a:r>
              <a:rPr sz="1500">
                <a:solidFill>
                  <a:srgbClr val="BBBBCC"/>
                </a:solidFill>
                <a:latin typeface="Calibri"/>
              </a:rPr>
              <a:t>样例中既包含 hub，也包含普通节点，判断仍然完全正确</a:t>
            </a:r>
            <a:endParaRPr sz="1500">
              <a:solidFill>
                <a:srgbClr val="BBBBCC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349240" cy="338328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E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E066"/>
                </a:solidFill>
                <a:latin typeface="Calibri"/>
              </a:defRPr>
            </a:pPr>
            <a:r>
              <a:t>Attack 3: Timing Side-Channel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90495"/>
            <a:ext cx="4832985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●  </a:t>
            </a:r>
            <a:r>
              <a:rPr sz="1500">
                <a:solidFill>
                  <a:srgbClr val="BBBBCC"/>
                </a:solidFill>
                <a:latin typeface="Calibri"/>
              </a:rPr>
              <a:t>Hub 平均延迟 = `4.973 us`，Non-hub = `3.404 us`</a:t>
            </a:r>
            <a:endParaRPr sz="1500">
              <a:solidFill>
                <a:srgbClr val="BBBBCC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●  </a:t>
            </a:r>
            <a:r>
              <a:rPr sz="1500">
                <a:solidFill>
                  <a:srgbClr val="BBBBCC"/>
                </a:solidFill>
                <a:latin typeface="Calibri"/>
              </a:rPr>
              <a:t>Latency ratio = `1.4608x`</a:t>
            </a:r>
            <a:endParaRPr sz="1500">
              <a:solidFill>
                <a:srgbClr val="BBBBCC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●  </a:t>
            </a:r>
            <a:r>
              <a:rPr sz="1500">
                <a:solidFill>
                  <a:srgbClr val="BBBBCC"/>
                </a:solidFill>
                <a:latin typeface="Calibri"/>
              </a:rPr>
              <a:t>分类结果：`Accuracy = 92.64%`，`Recall = 100%`</a:t>
            </a:r>
            <a:endParaRPr sz="1500">
              <a:solidFill>
                <a:srgbClr val="BBBBCC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●  </a:t>
            </a:r>
            <a:r>
              <a:rPr sz="1500">
                <a:solidFill>
                  <a:srgbClr val="BBBBCC"/>
                </a:solidFill>
                <a:latin typeface="Calibri"/>
              </a:rPr>
              <a:t>Pearson(`degree`, `latency`) = `0.5037`</a:t>
            </a:r>
            <a:endParaRPr sz="1500">
              <a:solidFill>
                <a:srgbClr val="BBBBCC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5394960"/>
            <a:ext cx="10698480" cy="7315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596128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结论 2：即使对查询值加噪，查询路径和耗时仍然会泄露 degree class。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ROOT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泄露根源：hub-oriented optimization 本身暴露了 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40280"/>
            <a:ext cx="2103120" cy="11887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更多地址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240280"/>
            <a:ext cx="2103120" cy="11887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Calibri"/>
              </a:defRPr>
            </a:pPr>
            <a:r>
              <a:t>更少冲突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240280"/>
            <a:ext cx="2103120" cy="11887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A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A040"/>
                </a:solidFill>
                <a:latin typeface="Calibri"/>
              </a:defRPr>
            </a:pPr>
            <a:r>
              <a:t>更高 utility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240280"/>
            <a:ext cx="2103120" cy="11887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B6B"/>
                </a:solidFill>
                <a:latin typeface="Calibri"/>
              </a:defRPr>
            </a:pPr>
            <a:r>
              <a:t>更易识别 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77640"/>
            <a:ext cx="5257800" cy="109728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5685" y="40919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Signal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5685" y="44119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Detector state</a:t>
            </a:r>
            <a:br/>
            <a:r>
              <a:t>暴露 degree level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977640"/>
            <a:ext cx="4709160" cy="109728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6365" y="40919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Calibri"/>
              </a:defRPr>
            </a:pPr>
            <a:r>
              <a:t>Signal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6365" y="44119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Query path</a:t>
            </a:r>
            <a:br/>
            <a:r>
              <a:t>暴露 value +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6B"/>
                </a:solidFill>
                <a:latin typeface="Calibri"/>
              </a:defRPr>
            </a:pPr>
            <a:r>
              <a:t>一句话：utility gain 与 leakage gain 来自同一套 skew-aware 机制。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P-SCUBE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方法设计：P-Scube </a:t>
            </a:r>
            <a:r>
              <a:rPr lang="zh-CN"/>
              <a:t>隐私保护</a:t>
            </a:r>
            <a:r>
              <a:t>两个核心机制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不去掉 skew-awareness，而是打破 `degree -&gt; address_number` 的精确映射。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5440680" cy="3376295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机制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0D2FF"/>
                </a:solidFill>
                <a:latin typeface="Calibri"/>
              </a:defRPr>
            </a:pPr>
            <a:r>
              <a:t>Noisy Degree Promotion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把“确定升级”改成“概率升级”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5208905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注释 1: 重点：削弱 top-K 排名与 address level 的稳定映射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注释 2: 代价：少量 hub 可能延迟升级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注释 3: 实现点：promotion threshold 加入随机扰动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48840"/>
            <a:ext cx="5440680" cy="3376295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Calibri"/>
              </a:defRPr>
            </a:pPr>
            <a:r>
              <a:t>机制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9748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0E696"/>
                </a:solidFill>
                <a:latin typeface="Calibri"/>
              </a:defRPr>
            </a:pPr>
            <a:r>
              <a:t>Coarsened Address 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把 2,3,4,5... 粗化成 2 / 4 /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94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注释 1: 重点：多个节点共享同一 observable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605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注释 2: 代价：部分节点会拿到略多地址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572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注释 3: 实现点：只修改 detector 返回的地址级别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989320"/>
            <a:ext cx="10561320" cy="5029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61264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设计原则：只改 detector 侧，不大改矩阵主体，这样更容易保留 Scube 的性能优势。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统一评价框架：把攻击、缓解和代价放到同一语言里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332720" cy="109728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84831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Calibri"/>
              </a:defRPr>
            </a:pPr>
            <a:r>
              <a:t>AttackAdv = AttackSuccess - RandomBaseline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474720"/>
            <a:ext cx="4480560" cy="11887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A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703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A040"/>
                </a:solidFill>
                <a:latin typeface="Calibri"/>
              </a:defRPr>
            </a:pPr>
            <a:r>
              <a:t>LeakageGain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069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`AttackAdv(SCube) - AttackAdv(GSS)`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474720"/>
            <a:ext cx="4480560" cy="11887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703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Calibri"/>
              </a:defRPr>
            </a:pPr>
            <a:r>
              <a:t>MitigationGain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069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`AttackAdv(SCube) - AttackAdv(P-SCube)`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5074920"/>
            <a:ext cx="9875520" cy="82296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330952"/>
            <a:ext cx="94183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再配合 `ARE` 和 latency overhead，</a:t>
            </a:r>
            <a:r>
              <a:rPr lang="zh-CN"/>
              <a:t>评估</a:t>
            </a:r>
            <a:r>
              <a:rPr lang="en-US" altLang="zh-CN"/>
              <a:t>privacy</a:t>
            </a:r>
            <a:r>
              <a:rPr lang="zh-CN" altLang="en-US"/>
              <a:t>和</a:t>
            </a:r>
            <a:r>
              <a:rPr lang="en-US" altLang="zh-CN"/>
              <a:t>efficiency</a:t>
            </a:r>
            <a:r>
              <a:rPr lang="zh-CN" altLang="en-US"/>
              <a:t>的平衡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11680" cy="347472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三点贡献与总结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291840" cy="219456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Calibri"/>
              </a:defRPr>
            </a:pPr>
            <a:r>
              <a:t>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Calibri"/>
              </a:defRPr>
            </a:pPr>
            <a:r>
              <a:t>发现 hub utility 与 hub leakage 的耦合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194560"/>
            <a:ext cx="3291840" cy="219456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696"/>
                </a:solidFill>
                <a:latin typeface="Calibri"/>
              </a:defRPr>
            </a:pPr>
            <a:r>
              <a:t>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1546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Calibri"/>
              </a:defRPr>
            </a:pPr>
            <a:r>
              <a:t>`NoisyPromotion` + `CoarsenedAllocation`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194560"/>
            <a:ext cx="3291840" cy="219456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A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A040"/>
                </a:solidFill>
                <a:latin typeface="Calibri"/>
              </a:defRPr>
            </a:pPr>
            <a:r>
              <a:t>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1546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Calibri"/>
              </a:defRPr>
            </a:pPr>
            <a:r>
              <a:t>`AttackAdv / LeakageGain / frontier`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394960"/>
            <a:ext cx="10789920" cy="73152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559552"/>
            <a:ext cx="1024128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一句话 takeaway：Better hub utility in SCube leads to better hub extractability; P-Scube weakens this coupling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2320</Words>
  <Application>WPS Presentation</Application>
  <PresentationFormat>On-screen Show (4:3)</PresentationFormat>
  <Paragraphs>174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Helvetica Neue</vt:lpstr>
      <vt:lpstr>宋体-简</vt:lpstr>
      <vt:lpstr>SimSun</vt:lpstr>
      <vt:lpstr>Microsoft YaHei</vt:lpstr>
      <vt:lpstr>汉仪旗黑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yenyong leong</cp:lastModifiedBy>
  <cp:revision>2</cp:revision>
  <dcterms:created xsi:type="dcterms:W3CDTF">2026-03-14T03:09:50Z</dcterms:created>
  <dcterms:modified xsi:type="dcterms:W3CDTF">2026-03-14T03:09:50Z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AC7DFC14F4B19DE37ED1B469E388260F_42</vt:lpwstr>
  </property>
  <property fmtid="{D5CDD505-2E9C-101B-9397-08002B2CF9AE}" pid="3" name="KSOProductBuildVer">
    <vt:lpwstr>1033-12.1.23155.23155</vt:lpwstr>
  </property>
</Properties>
</file>