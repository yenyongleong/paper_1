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00" y="2286000"/>
            <a:ext cx="8503920" cy="381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2560320"/>
            <a:ext cx="8503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图流摘要的隐私泄露问题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749039"/>
            <a:ext cx="8503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BBBBCC"/>
                </a:solidFill>
                <a:latin typeface="Calibri"/>
              </a:defRPr>
            </a:pPr>
            <a:r>
              <a:t>当性能优化成为隐私风险——以 Scube 为例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0" y="4572000"/>
            <a:ext cx="8503920" cy="381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502920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8888AA"/>
                </a:solidFill>
                <a:latin typeface="Calibri"/>
              </a:defRPr>
            </a:pPr>
            <a:r>
              <a:t>P-Scube: Privacy-Preserving Skew-Aware Graph Stream Summarization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11480"/>
            <a:ext cx="2011680" cy="347472"/>
          </a:xfrm>
          <a:prstGeom prst="round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BACKGROUND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什么是图流摘要？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BBBCC"/>
                </a:solidFill>
                <a:latin typeface="Calibri"/>
              </a:defRPr>
            </a:pPr>
            <a:r>
              <a:t>大规模图数据（社交网络、通信记录等）不断产生。图流摘要用一个压缩矩阵来近似存储，支持实时查询。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926080"/>
            <a:ext cx="5303520" cy="2011680"/>
          </a:xfrm>
          <a:prstGeom prst="roundRect">
            <a:avLst/>
          </a:prstGeom>
          <a:solidFill>
            <a:srgbClr val="272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1089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BBBBCC"/>
                </a:solidFill>
                <a:latin typeface="Calibri"/>
              </a:defRPr>
            </a:pPr>
            <a:r>
              <a:t>早期方案 (TCM, GSS)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749039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BBBCC"/>
                </a:solidFill>
                <a:latin typeface="Calibri"/>
              </a:defRPr>
            </a:pPr>
            <a:r>
              <a:t>所有节点一视同仁</a:t>
            </a:r>
            <a:br/>
            <a:r>
              <a:t>→ 简单，但高活跃节点查询很慢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926080"/>
            <a:ext cx="5303520" cy="2011680"/>
          </a:xfrm>
          <a:prstGeom prst="roundRect">
            <a:avLst/>
          </a:prstGeom>
          <a:solidFill>
            <a:srgbClr val="27274A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31089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2FF"/>
                </a:solidFill>
                <a:latin typeface="Calibri"/>
              </a:defRPr>
            </a:pPr>
            <a:r>
              <a:t>Scube 的创新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3749039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BBBCC"/>
                </a:solidFill>
                <a:latin typeface="Calibri"/>
              </a:defRPr>
            </a:pPr>
            <a:r>
              <a:t>识别高活跃节点，给它们更多存储空间</a:t>
            </a:r>
            <a:br/>
            <a:r>
              <a:t>→ 查询速度提升 48%–99%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5303520"/>
            <a:ext cx="11064240" cy="914400"/>
          </a:xfrm>
          <a:prstGeom prst="roundRect">
            <a:avLst/>
          </a:prstGeom>
          <a:solidFill>
            <a:srgbClr val="27274A"/>
          </a:solidFill>
          <a:ln w="190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44068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FFE066"/>
                </a:solidFill>
                <a:latin typeface="Calibri"/>
              </a:defRPr>
            </a:pPr>
            <a:r>
              <a:t>核心矛盾：Scube 为了提升性能，对不同节点做了差异化处理——但这种"差异"本身就是信息。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11480"/>
            <a:ext cx="2011680" cy="347472"/>
          </a:xfrm>
          <a:prstGeom prst="round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SCUBE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Scube 是怎么工作的？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BBBCC"/>
                </a:solidFill>
                <a:latin typeface="Calibri"/>
              </a:defRPr>
            </a:pPr>
            <a:r>
              <a:t>三个关键组件协同工作，让高活跃节点得到更好的服务：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2468880"/>
            <a:ext cx="3566160" cy="3474720"/>
          </a:xfrm>
          <a:prstGeom prst="roundRect">
            <a:avLst/>
          </a:prstGeom>
          <a:solidFill>
            <a:srgbClr val="27274A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65176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FF"/>
                </a:solidFill>
                <a:latin typeface="Calibri"/>
              </a:defRPr>
            </a:pPr>
            <a:r>
              <a:t>① 度数检测器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0632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AA"/>
                </a:solidFill>
                <a:latin typeface="Calibri"/>
              </a:defRPr>
            </a:pPr>
            <a:r>
              <a:t>DegDetector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66160"/>
            <a:ext cx="30175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Calibri"/>
              </a:defRPr>
            </a:pPr>
            <a:r>
              <a:t>实时追踪每个节点的活跃程度</a:t>
            </a:r>
            <a:br/>
            <a:br/>
            <a:r>
              <a:t>当发现某节点特别活跃时</a:t>
            </a:r>
            <a:br/>
            <a:r>
              <a:t>自动将其标记为高度节点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2468880"/>
            <a:ext cx="3566160" cy="3474720"/>
          </a:xfrm>
          <a:prstGeom prst="roundRect">
            <a:avLst/>
          </a:prstGeom>
          <a:solidFill>
            <a:srgbClr val="27274A"/>
          </a:solidFill>
          <a:ln w="1905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265176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E696"/>
                </a:solidFill>
                <a:latin typeface="Calibri"/>
              </a:defRPr>
            </a:pPr>
            <a:r>
              <a:t>② 动态地址分配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30632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AA"/>
                </a:solidFill>
                <a:latin typeface="Calibri"/>
              </a:defRPr>
            </a:pPr>
            <a:r>
              <a:t>Address Allocation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3566160"/>
            <a:ext cx="30175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Calibri"/>
              </a:defRPr>
            </a:pPr>
            <a:r>
              <a:t>普通节点：固定 2 个存储位置</a:t>
            </a:r>
            <a:br/>
            <a:br/>
            <a:r>
              <a:t>高度节点：分配更多位置（3, 4, 5...）</a:t>
            </a:r>
            <a:br/>
            <a:r>
              <a:t>更多位置 = 更少冲突 = 更快查询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2468880"/>
            <a:ext cx="3566160" cy="3474720"/>
          </a:xfrm>
          <a:prstGeom prst="roundRect">
            <a:avLst/>
          </a:prstGeom>
          <a:solidFill>
            <a:srgbClr val="27274A"/>
          </a:solidFill>
          <a:ln w="19050">
            <a:solidFill>
              <a:srgbClr val="FFA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265176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A040"/>
                </a:solidFill>
                <a:latin typeface="Calibri"/>
              </a:defRPr>
            </a:pPr>
            <a:r>
              <a:t>③ 数据搬迁机制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30632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AA"/>
                </a:solidFill>
                <a:latin typeface="Calibri"/>
              </a:defRPr>
            </a:pPr>
            <a:r>
              <a:t>Kick-out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3566160"/>
            <a:ext cx="30175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Calibri"/>
              </a:defRPr>
            </a:pPr>
            <a:r>
              <a:t>存储位置满了怎么办？</a:t>
            </a:r>
            <a:br/>
            <a:br/>
            <a:r>
              <a:t>把旧数据搬到别的位置腾出空间</a:t>
            </a:r>
            <a:br/>
            <a:r>
              <a:t>确保所有数据都能存下来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6126480"/>
            <a:ext cx="11064240" cy="457200"/>
          </a:xfrm>
          <a:prstGeom prst="roundRect">
            <a:avLst/>
          </a:prstGeom>
          <a:solidFill>
            <a:srgbClr val="272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6153912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E066"/>
                </a:solidFill>
                <a:latin typeface="Calibri"/>
              </a:defRPr>
            </a:pPr>
            <a:r>
              <a:t>效果：查询延迟降低 48%–99%，特别是高活跃节点的查询大幅加速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11480"/>
            <a:ext cx="2011680" cy="347472"/>
          </a:xfrm>
          <a:prstGeom prst="round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ATTACK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实测：Scube 到底泄露了多少？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BBBCC"/>
                </a:solidFill>
                <a:latin typeface="Calibri"/>
              </a:defRPr>
            </a:pPr>
            <a:r>
              <a:t>我们搭建了一个金融交易网络场景，用 Scube 存储后发起三种攻击：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377440"/>
            <a:ext cx="5029200" cy="1645920"/>
          </a:xfrm>
          <a:prstGeom prst="roundRect">
            <a:avLst/>
          </a:prstGeom>
          <a:solidFill>
            <a:srgbClr val="27274A"/>
          </a:solidFill>
          <a:ln w="190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514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  <a:latin typeface="Calibri"/>
              </a:defRPr>
            </a:pPr>
            <a:r>
              <a:t>模拟场景：Zipf 幂律分布网络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7180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Calibri"/>
              </a:defRPr>
            </a:pPr>
            <a:r>
              <a:t>5000 节点，度数服从 Zipf (gamma=1.2)</a:t>
            </a:r>
            <a:br/>
            <a:r>
              <a:t>中位度数 19，最高 2261，自然长尾分布</a:t>
            </a:r>
            <a:br/>
            <a:r>
              <a:t>共 903,858 条边，3000x3000 矩阵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0" y="2377440"/>
            <a:ext cx="1920240" cy="1645920"/>
          </a:xfrm>
          <a:prstGeom prst="roundRect">
            <a:avLst/>
          </a:prstGeom>
          <a:solidFill>
            <a:srgbClr val="27274A"/>
          </a:solidFill>
          <a:ln w="1905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80760" y="24688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6B6B"/>
                </a:solidFill>
                <a:latin typeface="Calibri"/>
              </a:defRPr>
            </a:pPr>
            <a:r>
              <a:t>攻击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80760" y="27889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找出 Top-K 节点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320040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Calibri"/>
              </a:defRPr>
            </a:pPr>
            <a:r>
              <a:t>查询所有节点权重</a:t>
            </a:r>
            <a:br/>
            <a:r>
              <a:t>按返回值排序</a:t>
            </a:r>
            <a:br/>
            <a:r>
              <a:t>看能否找到 Top-50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01000" y="2377440"/>
            <a:ext cx="1920240" cy="1645920"/>
          </a:xfrm>
          <a:prstGeom prst="roundRect">
            <a:avLst/>
          </a:prstGeom>
          <a:solidFill>
            <a:srgbClr val="27274A"/>
          </a:solidFill>
          <a:ln w="19050">
            <a:solidFill>
              <a:srgbClr val="FFA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0" y="24688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A040"/>
                </a:solidFill>
                <a:latin typeface="Calibri"/>
              </a:defRPr>
            </a:pPr>
            <a:r>
              <a:t>攻击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27889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确认敏感关系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320040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Calibri"/>
              </a:defRPr>
            </a:pPr>
            <a:r>
              <a:t>随机采样 200 条边</a:t>
            </a:r>
            <a:br/>
            <a:r>
              <a:t>100 真实 + 100 不存在</a:t>
            </a:r>
            <a:br/>
            <a:r>
              <a:t>查边权重判定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58400" y="2377440"/>
            <a:ext cx="1920240" cy="1645920"/>
          </a:xfrm>
          <a:prstGeom prst="roundRect">
            <a:avLst/>
          </a:prstGeom>
          <a:solidFill>
            <a:srgbClr val="27274A"/>
          </a:solidFill>
          <a:ln w="19050">
            <a:solidFill>
              <a:srgbClr val="FFE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195560" y="24688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E066"/>
                </a:solidFill>
                <a:latin typeface="Calibri"/>
              </a:defRPr>
            </a:pPr>
            <a:r>
              <a:t>攻击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95560" y="27889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时延侧信道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95560" y="320040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Calibri"/>
              </a:defRPr>
            </a:pPr>
            <a:r>
              <a:t>不看返回值</a:t>
            </a:r>
            <a:br/>
            <a:r>
              <a:t>只测查询耗时</a:t>
            </a:r>
            <a:br/>
            <a:r>
              <a:t>耗时长 = 高度节点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297680"/>
            <a:ext cx="11247120" cy="2194560"/>
          </a:xfrm>
          <a:prstGeom prst="roundRect">
            <a:avLst/>
          </a:prstGeom>
          <a:solidFill>
            <a:srgbClr val="27274A"/>
          </a:solidFill>
          <a:ln w="1905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4348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6B6B"/>
                </a:solidFill>
                <a:latin typeface="Calibri"/>
              </a:defRPr>
            </a:pPr>
            <a:r>
              <a:t>攻击结果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8920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6B6B"/>
                </a:solidFill>
                <a:latin typeface="Calibri"/>
              </a:defRPr>
            </a:pPr>
            <a:r>
              <a:t>攻击 1: Top-K 提取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21208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Calibri"/>
              </a:defRPr>
            </a:pPr>
            <a:r>
              <a:t>Precision@10 = 100%</a:t>
            </a:r>
            <a:br/>
            <a:r>
              <a:t>Precision@50 = 98%</a:t>
            </a:r>
            <a:br/>
            <a:r>
              <a:t>返回权重与真实度数零误差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48920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A040"/>
                </a:solidFill>
                <a:latin typeface="Calibri"/>
              </a:defRPr>
            </a:pPr>
            <a:r>
              <a:t>攻击 2: 边存在性确认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521208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Calibri"/>
              </a:defRPr>
            </a:pPr>
            <a:r>
              <a:t>Precision = 100%, FPR = 0%</a:t>
            </a:r>
            <a:br/>
            <a:r>
              <a:t>200 条随机采样边全部正确判定</a:t>
            </a:r>
            <a:br/>
            <a:r>
              <a:t>包含各种度数的节点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5279" y="48920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E066"/>
                </a:solidFill>
                <a:latin typeface="Calibri"/>
              </a:defRPr>
            </a:pPr>
            <a:r>
              <a:t>攻击 3: 时延侧信道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79" y="521208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Calibri"/>
              </a:defRPr>
            </a:pPr>
            <a:r>
              <a:t>Hub Recall = 100%</a:t>
            </a:r>
            <a:br/>
            <a:r>
              <a:t>度数-延迟相关性 r = 0.50</a:t>
            </a:r>
            <a:br/>
            <a:r>
              <a:t>延迟比 1.46x，所有 hub 被捕获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11480"/>
            <a:ext cx="2011680" cy="347472"/>
          </a:xfrm>
          <a:prstGeom prst="round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ROOT CAUSE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为什么会这样？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BBBBCC"/>
                </a:solidFill>
                <a:latin typeface="Calibri"/>
              </a:defRPr>
            </a:pPr>
            <a:r>
              <a:t>Scube 的性能优势恰恰是隐私泄露的根源：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2468880"/>
            <a:ext cx="3566160" cy="2560320"/>
          </a:xfrm>
          <a:prstGeom prst="roundRect">
            <a:avLst/>
          </a:prstGeom>
          <a:solidFill>
            <a:srgbClr val="27274A"/>
          </a:solidFill>
          <a:ln w="1905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65176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FF6B6B"/>
                </a:solidFill>
                <a:latin typeface="Calibri"/>
              </a:defRPr>
            </a:pPr>
            <a:r>
              <a:t>高度节点查询更准确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0040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Calibri"/>
              </a:defRPr>
            </a:pPr>
            <a:r>
              <a:t>Scube 给高度节点分配更多空间</a:t>
            </a:r>
            <a:br/>
            <a:r>
              <a:t>→ 哈希冲突更少 → 返回值精确</a:t>
            </a:r>
            <a:br/>
            <a:r>
              <a:t>→ 攻击者排序即可识别 Top-K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389120"/>
            <a:ext cx="3017520" cy="502920"/>
          </a:xfrm>
          <a:prstGeom prst="roundRect">
            <a:avLst/>
          </a:prstGeom>
          <a:solidFill>
            <a:srgbClr val="1E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416552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6B6B"/>
                </a:solidFill>
                <a:latin typeface="Calibri"/>
              </a:defRPr>
            </a:pPr>
            <a:r>
              <a:t>查询权重 = 真实度数</a:t>
            </a:r>
            <a:br/>
            <a:r>
              <a:t>Top-50 中命中 49 个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2468880"/>
            <a:ext cx="3566160" cy="2560320"/>
          </a:xfrm>
          <a:prstGeom prst="roundRect">
            <a:avLst/>
          </a:prstGeom>
          <a:solidFill>
            <a:srgbClr val="27274A"/>
          </a:solidFill>
          <a:ln w="19050">
            <a:solidFill>
              <a:srgbClr val="FFA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265176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FFA040"/>
                </a:solidFill>
                <a:latin typeface="Calibri"/>
              </a:defRPr>
            </a:pPr>
            <a:r>
              <a:t>边查询几乎无误报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320040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Calibri"/>
              </a:defRPr>
            </a:pPr>
            <a:r>
              <a:t>指纹匹配 + 充足空间</a:t>
            </a:r>
            <a:br/>
            <a:r>
              <a:t>→ 假阳性率极低</a:t>
            </a:r>
            <a:br/>
            <a:r>
              <a:t>→ 查一下就知道关系是否存在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60" y="4389120"/>
            <a:ext cx="3017520" cy="502920"/>
          </a:xfrm>
          <a:prstGeom prst="roundRect">
            <a:avLst/>
          </a:prstGeom>
          <a:solidFill>
            <a:srgbClr val="1E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4416552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A040"/>
                </a:solidFill>
                <a:latin typeface="Calibri"/>
              </a:defRPr>
            </a:pPr>
            <a:r>
              <a:t>200 条随机边</a:t>
            </a:r>
            <a:br/>
            <a:r>
              <a:t>0 个误判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2468880"/>
            <a:ext cx="3566160" cy="2560320"/>
          </a:xfrm>
          <a:prstGeom prst="roundRect">
            <a:avLst/>
          </a:prstGeom>
          <a:solidFill>
            <a:srgbClr val="27274A"/>
          </a:solidFill>
          <a:ln w="19050">
            <a:solidFill>
              <a:srgbClr val="FFE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265176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FFE066"/>
                </a:solidFill>
                <a:latin typeface="Calibri"/>
              </a:defRPr>
            </a:pPr>
            <a:r>
              <a:t>查询耗时暴露身份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320040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Calibri"/>
              </a:defRPr>
            </a:pPr>
            <a:r>
              <a:t>高度节点地址多 → 扫描行数多</a:t>
            </a:r>
            <a:br/>
            <a:r>
              <a:t>→ 查询时间更长</a:t>
            </a:r>
            <a:br/>
            <a:r>
              <a:t>→ 即使加噪返回值，耗时仍泄露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21040" y="4389120"/>
            <a:ext cx="3017520" cy="502920"/>
          </a:xfrm>
          <a:prstGeom prst="roundRect">
            <a:avLst/>
          </a:prstGeom>
          <a:solidFill>
            <a:srgbClr val="1E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20" y="4416552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E066"/>
                </a:solidFill>
                <a:latin typeface="Calibri"/>
              </a:defRPr>
            </a:pPr>
            <a:r>
              <a:t>Pearson r = 0.50</a:t>
            </a:r>
            <a:br/>
            <a:r>
              <a:t>Hub Recall = 100%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5394960"/>
            <a:ext cx="11247120" cy="1097280"/>
          </a:xfrm>
          <a:prstGeom prst="roundRect">
            <a:avLst/>
          </a:prstGeom>
          <a:solidFill>
            <a:srgbClr val="27274A"/>
          </a:solidFill>
          <a:ln w="190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54864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  <a:latin typeface="Calibri"/>
              </a:defRPr>
            </a:pPr>
            <a:r>
              <a:t>核心矛盾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8521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Calibri"/>
              </a:defRPr>
            </a:pPr>
            <a:r>
              <a:t>更好的偏斜感知服务 = 对重要节点更高的精度 = 更容易被攻击者识别 = 更大的隐私风险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11480"/>
            <a:ext cx="2011680" cy="347472"/>
          </a:xfrm>
          <a:prstGeom prst="round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OUR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P-Scube：保留性能优势，消除隐私风险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FF"/>
                </a:solidFill>
                <a:latin typeface="Calibri"/>
              </a:defRPr>
            </a:pPr>
            <a:r>
              <a:t>核心思路：不去掉优化，而是模糊优化产生的"痕迹"。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2743200"/>
            <a:ext cx="2743200" cy="3017520"/>
          </a:xfrm>
          <a:prstGeom prst="roundRect">
            <a:avLst/>
          </a:prstGeom>
          <a:solidFill>
            <a:srgbClr val="27274A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2880360"/>
            <a:ext cx="502920" cy="50292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B1B2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92608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  <a:latin typeface="Calibri"/>
              </a:defRPr>
            </a:pPr>
            <a:r>
              <a:t>模糊 VIP 门槛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566160"/>
            <a:ext cx="2377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Calibri"/>
              </a:defRPr>
            </a:pPr>
            <a:r>
              <a:t>给"升级条件"加入随机扰动</a:t>
            </a:r>
            <a:br/>
            <a:r>
              <a:t>不同节点的晋升标准不一样</a:t>
            </a:r>
            <a:br/>
            <a:r>
              <a:t>→ 攻击者无法精确排序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2743200"/>
            <a:ext cx="2743200" cy="3017520"/>
          </a:xfrm>
          <a:prstGeom prst="roundRect">
            <a:avLst/>
          </a:prstGeom>
          <a:solidFill>
            <a:srgbClr val="27274A"/>
          </a:solidFill>
          <a:ln w="1905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474720" y="2880360"/>
            <a:ext cx="502920" cy="502920"/>
          </a:xfrm>
          <a:prstGeom prst="round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B1B2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292608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E696"/>
                </a:solidFill>
                <a:latin typeface="Calibri"/>
              </a:defRPr>
            </a:pPr>
            <a:r>
              <a:t>粗化等级划分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3566160"/>
            <a:ext cx="2377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Calibri"/>
              </a:defRPr>
            </a:pPr>
            <a:r>
              <a:t>原来分 10 个等级，现在只分 3~4 个</a:t>
            </a:r>
            <a:br/>
            <a:r>
              <a:t>更多节点"看起来一样"</a:t>
            </a:r>
            <a:br/>
            <a:r>
              <a:t>→ 增加不可区分性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743200"/>
            <a:ext cx="2743200" cy="3017520"/>
          </a:xfrm>
          <a:prstGeom prst="roundRect">
            <a:avLst/>
          </a:prstGeom>
          <a:solidFill>
            <a:srgbClr val="27274A"/>
          </a:solidFill>
          <a:ln w="19050">
            <a:solidFill>
              <a:srgbClr val="FFA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00800" y="2880360"/>
            <a:ext cx="502920" cy="502920"/>
          </a:xfrm>
          <a:prstGeom prst="roundRect">
            <a:avLst/>
          </a:prstGeom>
          <a:solidFill>
            <a:srgbClr val="FFA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B1B2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292608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A040"/>
                </a:solidFill>
                <a:latin typeface="Calibri"/>
              </a:defRPr>
            </a:pPr>
            <a:r>
              <a:t>加密地址映射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566160"/>
            <a:ext cx="2377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Calibri"/>
              </a:defRPr>
            </a:pPr>
            <a:r>
              <a:t>重要节点的额外地址加入密钥</a:t>
            </a:r>
            <a:br/>
            <a:r>
              <a:t>不知道密钥就无法分析</a:t>
            </a:r>
            <a:br/>
            <a:r>
              <a:t>→ 矩阵分布变均匀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0" y="2743200"/>
            <a:ext cx="2743200" cy="3017520"/>
          </a:xfrm>
          <a:prstGeom prst="roundRect">
            <a:avLst/>
          </a:prstGeom>
          <a:solidFill>
            <a:srgbClr val="27274A"/>
          </a:solidFill>
          <a:ln w="19050">
            <a:solidFill>
              <a:srgbClr val="FFE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326880" y="2880360"/>
            <a:ext cx="502920" cy="502920"/>
          </a:xfrm>
          <a:prstGeom prst="roundRect">
            <a:avLst/>
          </a:prstGeom>
          <a:solidFill>
            <a:srgbClr val="FFE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B1B2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66960" y="292608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E066"/>
                </a:solidFill>
                <a:latin typeface="Calibri"/>
              </a:defRPr>
            </a:pPr>
            <a:r>
              <a:t>隐藏存储标记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0" y="3566160"/>
            <a:ext cx="2377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Calibri"/>
              </a:defRPr>
            </a:pPr>
            <a:r>
              <a:t>对暴露重要程度的标记加密</a:t>
            </a:r>
            <a:br/>
            <a:r>
              <a:t>外部观察者看到的是乱码</a:t>
            </a:r>
            <a:br/>
            <a:r>
              <a:t>→ 无法推断节点级别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943600"/>
            <a:ext cx="11064240" cy="548640"/>
          </a:xfrm>
          <a:prstGeom prst="roundRect">
            <a:avLst/>
          </a:prstGeom>
          <a:solidFill>
            <a:srgbClr val="27274A"/>
          </a:solidFill>
          <a:ln w="190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9893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Calibri"/>
              </a:defRPr>
            </a:pPr>
            <a:r>
              <a:t>关键：只保护高风险区域，普通节点不受影响 → 性能损失最小化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11480"/>
            <a:ext cx="2011680" cy="347472"/>
          </a:xfrm>
          <a:prstGeom prst="round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预期效果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3383280" cy="3931920"/>
          </a:xfrm>
          <a:prstGeom prst="roundRect">
            <a:avLst/>
          </a:prstGeom>
          <a:solidFill>
            <a:srgbClr val="27274A"/>
          </a:solidFill>
          <a:ln w="1905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9456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E696"/>
                </a:solidFill>
                <a:latin typeface="Calibri"/>
              </a:defRPr>
            </a:pPr>
            <a:r>
              <a:t>隐私保护</a:t>
            </a:r>
          </a:p>
        </p:txBody>
      </p:sp>
      <p:sp>
        <p:nvSpPr>
          <p:cNvPr id="6" name="Oval 5"/>
          <p:cNvSpPr/>
          <p:nvPr/>
        </p:nvSpPr>
        <p:spPr>
          <a:xfrm>
            <a:off x="1874520" y="2926080"/>
            <a:ext cx="1097280" cy="1097280"/>
          </a:xfrm>
          <a:prstGeom prst="ellipse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1B1B2F"/>
                </a:solidFill>
                <a:latin typeface="Calibri"/>
              </a:defRPr>
            </a:pPr>
            <a:r>
              <a:t>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420624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攻击成功率</a:t>
            </a:r>
            <a:br/>
            <a:r>
              <a:t>大幅下降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84632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BBBCC"/>
                </a:solidFill>
                <a:latin typeface="Calibri"/>
              </a:defRPr>
            </a:pPr>
            <a:r>
              <a:t>攻击者找到 Top-K 的准确率</a:t>
            </a:r>
            <a:br/>
            <a:r>
              <a:t>从 &gt;90% 降到 &lt;30%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2011680"/>
            <a:ext cx="3383280" cy="3931920"/>
          </a:xfrm>
          <a:prstGeom prst="roundRect">
            <a:avLst/>
          </a:prstGeom>
          <a:solidFill>
            <a:srgbClr val="27274A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79" y="219456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D2FF"/>
                </a:solidFill>
                <a:latin typeface="Calibri"/>
              </a:defRPr>
            </a:pPr>
            <a:r>
              <a:t>查询精度</a:t>
            </a:r>
          </a:p>
        </p:txBody>
      </p:sp>
      <p:sp>
        <p:nvSpPr>
          <p:cNvPr id="11" name="Oval 10"/>
          <p:cNvSpPr/>
          <p:nvPr/>
        </p:nvSpPr>
        <p:spPr>
          <a:xfrm>
            <a:off x="5623559" y="2926080"/>
            <a:ext cx="1097280" cy="1097280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1B1B2F"/>
                </a:solidFill>
                <a:latin typeface="Calibri"/>
              </a:defRPr>
            </a:pPr>
            <a:r>
              <a:t>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79" y="420624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损失</a:t>
            </a:r>
            <a:br/>
            <a:r>
              <a:t>可控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79" y="484632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BBBCC"/>
                </a:solidFill>
                <a:latin typeface="Calibri"/>
              </a:defRPr>
            </a:pPr>
            <a:r>
              <a:t>查询误差增加</a:t>
            </a:r>
            <a:br/>
            <a:r>
              <a:t>控制在 10% 以内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2011680"/>
            <a:ext cx="3383280" cy="3931920"/>
          </a:xfrm>
          <a:prstGeom prst="roundRect">
            <a:avLst/>
          </a:prstGeom>
          <a:solidFill>
            <a:srgbClr val="27274A"/>
          </a:solidFill>
          <a:ln w="19050">
            <a:solidFill>
              <a:srgbClr val="FFA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0" y="219456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A040"/>
                </a:solidFill>
                <a:latin typeface="Calibri"/>
              </a:defRPr>
            </a:pPr>
            <a:r>
              <a:t>查询速度</a:t>
            </a:r>
          </a:p>
        </p:txBody>
      </p:sp>
      <p:sp>
        <p:nvSpPr>
          <p:cNvPr id="16" name="Oval 15"/>
          <p:cNvSpPr/>
          <p:nvPr/>
        </p:nvSpPr>
        <p:spPr>
          <a:xfrm>
            <a:off x="9372600" y="2926080"/>
            <a:ext cx="1097280" cy="1097280"/>
          </a:xfrm>
          <a:prstGeom prst="ellipse">
            <a:avLst/>
          </a:prstGeom>
          <a:solidFill>
            <a:srgbClr val="FFA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1B1B2F"/>
                </a:solidFill>
                <a:latin typeface="Calibri"/>
              </a:defRPr>
            </a:pPr>
            <a:r>
              <a:t>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420624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开销</a:t>
            </a:r>
            <a:br/>
            <a:r>
              <a:t>可接受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484632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BBBCC"/>
                </a:solidFill>
                <a:latin typeface="Calibri"/>
              </a:defRPr>
            </a:pPr>
            <a:r>
              <a:t>延迟增加</a:t>
            </a:r>
            <a:br/>
            <a:r>
              <a:t>控制在 20% 以内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11480"/>
            <a:ext cx="2011680" cy="347472"/>
          </a:xfrm>
          <a:prstGeom prst="round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CONTRIBUTIONS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本文贡献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920240"/>
            <a:ext cx="11064240" cy="1005840"/>
          </a:xfrm>
          <a:prstGeom prst="roundRect">
            <a:avLst/>
          </a:prstGeom>
          <a:solidFill>
            <a:srgbClr val="272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2960" y="2103120"/>
            <a:ext cx="640080" cy="640080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B1B2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2029968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2FF"/>
                </a:solidFill>
                <a:latin typeface="Calibri"/>
              </a:defRPr>
            </a:pPr>
            <a:r>
              <a:t>发现问题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242316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CC"/>
                </a:solidFill>
                <a:latin typeface="Calibri"/>
              </a:defRPr>
            </a:pPr>
            <a:r>
              <a:t>首次揭示：偏斜感知图流摘要的性能优化会放大隐私泄露风险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063240"/>
            <a:ext cx="11064240" cy="1005840"/>
          </a:xfrm>
          <a:prstGeom prst="roundRect">
            <a:avLst/>
          </a:prstGeom>
          <a:solidFill>
            <a:srgbClr val="272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22960" y="3246120"/>
            <a:ext cx="640080" cy="64008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B1B2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3172968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6B6B"/>
                </a:solidFill>
                <a:latin typeface="Calibri"/>
              </a:defRPr>
            </a:pPr>
            <a:r>
              <a:t>量化风险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356616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CC"/>
                </a:solidFill>
                <a:latin typeface="Calibri"/>
              </a:defRPr>
            </a:pPr>
            <a:r>
              <a:t>定义了攻击模型和泄露信号，实验证明 Scube 比 GSS 泄露显著更多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206240"/>
            <a:ext cx="11064240" cy="1005840"/>
          </a:xfrm>
          <a:prstGeom prst="roundRect">
            <a:avLst/>
          </a:prstGeom>
          <a:solidFill>
            <a:srgbClr val="272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22960" y="4389120"/>
            <a:ext cx="640080" cy="640080"/>
          </a:xfrm>
          <a:prstGeom prst="ellipse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B1B2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4315968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E696"/>
                </a:solidFill>
                <a:latin typeface="Calibri"/>
              </a:defRPr>
            </a:pPr>
            <a:r>
              <a:t>提出方案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470916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CC"/>
                </a:solidFill>
                <a:latin typeface="Calibri"/>
              </a:defRPr>
            </a:pPr>
            <a:r>
              <a:t>设计 P-Scube：4 个互补机制，选择性保护，三方平衡（隐私 / 精度 / 速度）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349240"/>
            <a:ext cx="11064240" cy="1005840"/>
          </a:xfrm>
          <a:prstGeom prst="roundRect">
            <a:avLst/>
          </a:prstGeom>
          <a:solidFill>
            <a:srgbClr val="272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22960" y="5532120"/>
            <a:ext cx="640080" cy="640080"/>
          </a:xfrm>
          <a:prstGeom prst="ellipse">
            <a:avLst/>
          </a:prstGeom>
          <a:solidFill>
            <a:srgbClr val="FFA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B1B2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37360" y="5458968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A040"/>
                </a:solidFill>
                <a:latin typeface="Calibri"/>
              </a:defRPr>
            </a:pPr>
            <a:r>
              <a:t>理论 + 实验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585216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CC"/>
                </a:solidFill>
                <a:latin typeface="Calibri"/>
              </a:defRPr>
            </a:pPr>
            <a:r>
              <a:t>理论证明保护效果的下界，大规模真实数据集全面验证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0" y="2560320"/>
            <a:ext cx="6675120" cy="381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83464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>
                <a:solidFill>
                  <a:srgbClr val="00D2FF"/>
                </a:solidFill>
                <a:latin typeface="Calibri"/>
              </a:defRPr>
            </a:pPr>
            <a:r>
              <a:t>Thanks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93192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BBBCC"/>
                </a:solidFill>
                <a:latin typeface="Calibri"/>
              </a:defRPr>
            </a:pPr>
            <a:r>
              <a:t>性能优化是一把双刃剑——P-Scube 让你同时握住两面。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0" y="4754880"/>
            <a:ext cx="6675120" cy="381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512064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AA"/>
                </a:solidFill>
                <a:latin typeface="Calibri"/>
              </a:defRPr>
            </a:pPr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