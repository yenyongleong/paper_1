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Problem Formulation: The Utility-Privacy Tension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Formalizing Privacy Leakage in Skew-Aware Graph Summarization</a:t>
            </a:r>
          </a:p>
          <a:p/>
          <a:p>
            <a:r>
              <a:t>Theoretical Foundations for P-Scube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Context: Graph Streams &amp; Skew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Graph Streams and Power-Law Distribution:</a:t>
            </a:r>
          </a:p>
          <a:p>
            <a:pPr lvl="1"/>
            <a:r>
              <a:t>• Real-world graph streams exhibit structural skew.</a:t>
            </a:r>
          </a:p>
          <a:p>
            <a:pPr lvl="1"/>
            <a:r>
              <a:t>• The degree of node v follows a power-law: Pr[d_v = k] ∝ k^(-γ)</a:t>
            </a:r>
          </a:p>
          <a:p>
            <a:pPr>
              <a:spcBef>
                <a:spcPts val="1400"/>
              </a:spcBef>
              <a:defRPr b="1"/>
            </a:pPr>
            <a:r>
              <a:t>Skew-Aware Allocation (e.g., Scube):</a:t>
            </a:r>
          </a:p>
          <a:p>
            <a:pPr lvl="1"/>
            <a:r>
              <a:t>• To minimize hash collisions, Scube allocates resources A_v (addresses) based on estimated degree d̂_v.</a:t>
            </a:r>
          </a:p>
          <a:p>
            <a:pPr lvl="1"/>
            <a:r>
              <a:t>• Allocation is a deterministic step function: A_v = f(d̂_v) = max(2, ⌈d̂_v / θ⌉)</a:t>
            </a:r>
          </a:p>
          <a:p>
            <a:pPr lvl="1">
              <a:defRPr i="1">
                <a:solidFill>
                  <a:srgbClr val="C80000"/>
                </a:solidFill>
              </a:defRPr>
            </a:pPr>
            <a:r>
              <a:t>Insight: The function f(·) is strictly monotonically increasing and completely deterministic. This provides high utility but introduces severe privacy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Adversary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Adversary's Observation (A_v):</a:t>
            </a:r>
          </a:p>
          <a:p>
            <a:pPr lvl="1"/>
            <a:r>
              <a:t>• Query latency T_v is linearly correlated with allocated addresses A_v.</a:t>
            </a:r>
          </a:p>
          <a:p>
            <a:pPr lvl="1"/>
            <a:r>
              <a:t>• T_v ≈ c · A_v + noise_network</a:t>
            </a:r>
          </a:p>
          <a:p>
            <a:pPr lvl="1"/>
            <a:r>
              <a:t>• Adversary can accurately infer A_v via timing side-channels (Query-only access).</a:t>
            </a:r>
          </a:p>
          <a:p>
            <a:pPr>
              <a:spcBef>
                <a:spcPts val="1400"/>
              </a:spcBef>
              <a:defRPr b="1"/>
            </a:pPr>
            <a:r>
              <a:t>Adversary's Goal (Hub Extraction):</a:t>
            </a:r>
          </a:p>
          <a:p>
            <a:pPr lvl="1"/>
            <a:r>
              <a:t>• Determine if a target node v is a 'Hub' (i.e., true degree d_v &gt; τ).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Formalizing Privacy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Prior Probability:</a:t>
            </a:r>
          </a:p>
          <a:p>
            <a:pPr lvl="1"/>
            <a:r>
              <a:t>• Without observing A_v, the probability of guessing a hub is extremely low (due to power-law).</a:t>
            </a:r>
          </a:p>
          <a:p>
            <a:pPr lvl="1"/>
            <a:r>
              <a:t>• Pr[d_v &gt; τ] ≈ 0.01</a:t>
            </a:r>
          </a:p>
          <a:p>
            <a:pPr>
              <a:spcBef>
                <a:spcPts val="1400"/>
              </a:spcBef>
              <a:defRPr b="1"/>
            </a:pPr>
            <a:r>
              <a:t>Posterior Probability:</a:t>
            </a:r>
          </a:p>
          <a:p>
            <a:pPr lvl="1"/>
            <a:r>
              <a:t>• After observing A_v, the probability becomes Pr[d_v &gt; τ | A_v].</a:t>
            </a:r>
          </a:p>
          <a:p>
            <a:pPr>
              <a:spcBef>
                <a:spcPts val="1400"/>
              </a:spcBef>
              <a:defRPr b="1"/>
            </a:pPr>
            <a:r>
              <a:t>Extractability Advantage (Adv(A)):</a:t>
            </a:r>
          </a:p>
          <a:p>
            <a:pPr lvl="1"/>
            <a:r>
              <a:t>• Adv(A) = | Pr[d_v &gt; τ | A_v] - Pr[d_v &gt; τ] |</a:t>
            </a:r>
          </a:p>
          <a:p>
            <a:pPr lvl="1"/>
            <a:r>
              <a:t>• Adv(A) → 1 means perfect extraction (severe leakage).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The Utility-Privacy Tension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Bayesian Inference on Deterministic Mapping:</a:t>
            </a:r>
          </a:p>
          <a:p>
            <a:pPr lvl="1"/>
            <a:r>
              <a:t>• Pr[d_v &gt; τ | A_v] = (Pr[A_v | d_v &gt; τ] · Pr[d_v &gt; τ]) / Pr[A_v]</a:t>
            </a:r>
          </a:p>
          <a:p>
            <a:pPr lvl="1"/>
            <a:r>
              <a:t>• Because A_v = ⌈d̂_v / θ⌉ is deterministic, if A_v is large, Pr[A_v | d_v &gt; τ] ≈ 1 and Pr[A_v | d_v &lt; τ] ≈ 0.</a:t>
            </a:r>
          </a:p>
          <a:p>
            <a:pPr>
              <a:spcBef>
                <a:spcPts val="1400"/>
              </a:spcBef>
              <a:defRPr b="1"/>
            </a:pPr>
            <a:r>
              <a:t>Theorem Result:</a:t>
            </a:r>
          </a:p>
          <a:p>
            <a:pPr lvl="1"/>
            <a:r>
              <a:t>• The posterior probability collapses to 100% certainty.</a:t>
            </a:r>
          </a:p>
          <a:p>
            <a:pPr lvl="1"/>
            <a:r>
              <a:t>• Adv(A) ≈ 1 - Pr[d_v &gt; τ] ≈ 0.99</a:t>
            </a:r>
          </a:p>
          <a:p>
            <a:pPr lvl="1">
              <a:defRPr b="1">
                <a:solidFill>
                  <a:srgbClr val="C80000"/>
                </a:solidFill>
              </a:defRPr>
            </a:pPr>
            <a:r>
              <a:t>Conclusion: Skew-aware resource allocation mathematically guarantees near-perfect hub extraction. This is the fundamental Utility-Privacy Tension.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The Mitigation Strategy: P-Scube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Goal: Break the Deterministic Mapping</a:t>
            </a:r>
          </a:p>
          <a:p>
            <a:pPr lvl="1"/>
            <a:r>
              <a:t>• We must enforce Degree Indistinguishability (Local DP constraint):</a:t>
            </a:r>
          </a:p>
          <a:p>
            <a:pPr lvl="1"/>
            <a:r>
              <a:t>• Pr[A_u* = k] / Pr[A_v* = k] ≤ e^ε  (for nodes u, v with similar degrees)</a:t>
            </a:r>
          </a:p>
          <a:p>
            <a:pPr>
              <a:spcBef>
                <a:spcPts val="1400"/>
              </a:spcBef>
              <a:defRPr b="1"/>
            </a:pPr>
            <a:r>
              <a:t>P-Scube Mechanisms:</a:t>
            </a:r>
          </a:p>
          <a:p>
            <a:pPr lvl="1"/>
            <a:r>
              <a:t>1. Monotonic Noisy Promotion: d̂_v → d̃_v = d̂_v + Laplace(λ)</a:t>
            </a:r>
          </a:p>
          <a:p>
            <a:pPr lvl="2"/>
            <a:r>
              <a:t>   • A node with degree 500 now has a probability to surpass the 600 threshold.</a:t>
            </a:r>
          </a:p>
          <a:p>
            <a:pPr lvl="1"/>
            <a:r>
              <a:t>2. Coarsened Allocation: Map fine-grained A_v ∈ {2,3,4,5,6} to coarse buckets A_v* ∈ {2, 4, 6}.</a:t>
            </a:r>
          </a:p>
          <a:p>
            <a:pPr lvl="2"/>
            <a:r>
              <a:t>   • Nodes with degrees 400 and 600 are forced into the same '4-address bucket', destroying the adversary's ability to distinguish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